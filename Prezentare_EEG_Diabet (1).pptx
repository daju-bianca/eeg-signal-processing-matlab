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61" r:id="rId7"/>
    <p:sldId id="270" r:id="rId8"/>
    <p:sldId id="275" r:id="rId9"/>
    <p:sldId id="262" r:id="rId10"/>
    <p:sldId id="276" r:id="rId11"/>
    <p:sldId id="273" r:id="rId12"/>
    <p:sldId id="263" r:id="rId13"/>
    <p:sldId id="264" r:id="rId14"/>
    <p:sldId id="271" r:id="rId15"/>
    <p:sldId id="265" r:id="rId16"/>
    <p:sldId id="266" r:id="rId17"/>
    <p:sldId id="268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3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458D9B-61E1-4E06-B3F5-9DFF8E61926B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522AD6-2A6D-417A-BE12-15BBF8E8CADE}">
      <dgm:prSet phldrT="[Text]" phldr="0" custT="1"/>
      <dgm:spPr/>
      <dgm:t>
        <a:bodyPr/>
        <a:lstStyle/>
        <a:p>
          <a:r>
            <a:rPr lang="en-US" sz="1200" b="1" dirty="0" err="1"/>
            <a:t>Scopul</a:t>
          </a:r>
          <a:r>
            <a:rPr lang="en-US" sz="1200" b="1" dirty="0"/>
            <a:t> </a:t>
          </a:r>
          <a:r>
            <a:rPr lang="en-US" sz="1200" b="1" dirty="0" err="1"/>
            <a:t>Proiectului</a:t>
          </a:r>
          <a:endParaRPr lang="en-US" sz="1200" b="1" dirty="0"/>
        </a:p>
      </dgm:t>
    </dgm:pt>
    <dgm:pt modelId="{593BCD11-9FF8-4EAA-9A70-FF2DCF5B0306}" type="parTrans" cxnId="{B5293EC1-B7F2-437D-A7D9-1157688E16D7}">
      <dgm:prSet/>
      <dgm:spPr/>
      <dgm:t>
        <a:bodyPr/>
        <a:lstStyle/>
        <a:p>
          <a:endParaRPr lang="en-US"/>
        </a:p>
      </dgm:t>
    </dgm:pt>
    <dgm:pt modelId="{7FAB1E97-F5E7-474E-BC48-8145E171B312}" type="sibTrans" cxnId="{B5293EC1-B7F2-437D-A7D9-1157688E16D7}">
      <dgm:prSet/>
      <dgm:spPr/>
      <dgm:t>
        <a:bodyPr/>
        <a:lstStyle/>
        <a:p>
          <a:endParaRPr lang="en-US"/>
        </a:p>
      </dgm:t>
    </dgm:pt>
    <dgm:pt modelId="{DBDD50E6-780D-44D9-977B-72C75BF3C05A}">
      <dgm:prSet phldrT="[Text]" phldr="0" custT="1"/>
      <dgm:spPr/>
      <dgm:t>
        <a:bodyPr/>
        <a:lstStyle/>
        <a:p>
          <a:r>
            <a:rPr lang="en-US" sz="1200" b="1" dirty="0"/>
            <a:t>Analiza </a:t>
          </a:r>
          <a:r>
            <a:rPr lang="en-US" sz="1200" b="1" dirty="0" err="1"/>
            <a:t>setului</a:t>
          </a:r>
          <a:r>
            <a:rPr lang="en-US" sz="1200" b="1" dirty="0"/>
            <a:t> de date</a:t>
          </a:r>
        </a:p>
      </dgm:t>
    </dgm:pt>
    <dgm:pt modelId="{FD2534F9-688A-4945-B1E5-E58E7DF64058}" type="parTrans" cxnId="{F521F374-C59A-4D0E-80BF-584A4AB1A38C}">
      <dgm:prSet/>
      <dgm:spPr/>
      <dgm:t>
        <a:bodyPr/>
        <a:lstStyle/>
        <a:p>
          <a:endParaRPr lang="en-US"/>
        </a:p>
      </dgm:t>
    </dgm:pt>
    <dgm:pt modelId="{504A0444-5EF6-446F-A2E3-D4FA6CC7070A}" type="sibTrans" cxnId="{F521F374-C59A-4D0E-80BF-584A4AB1A38C}">
      <dgm:prSet/>
      <dgm:spPr/>
      <dgm:t>
        <a:bodyPr/>
        <a:lstStyle/>
        <a:p>
          <a:endParaRPr lang="en-US"/>
        </a:p>
      </dgm:t>
    </dgm:pt>
    <dgm:pt modelId="{EBF143C4-0F43-4800-9656-350A484F6E15}">
      <dgm:prSet phldrT="[Text]" phldr="0" custT="1"/>
      <dgm:spPr/>
      <dgm:t>
        <a:bodyPr/>
        <a:lstStyle/>
        <a:p>
          <a:r>
            <a:rPr lang="en-US" sz="1100" b="1" dirty="0"/>
            <a:t>Preprocesare</a:t>
          </a:r>
        </a:p>
      </dgm:t>
    </dgm:pt>
    <dgm:pt modelId="{DC4EEED0-A0AC-4914-8081-1C9F4A79AB57}" type="parTrans" cxnId="{E20F458D-B825-492E-8E0B-B31A4C4FB2FE}">
      <dgm:prSet/>
      <dgm:spPr/>
      <dgm:t>
        <a:bodyPr/>
        <a:lstStyle/>
        <a:p>
          <a:endParaRPr lang="en-US"/>
        </a:p>
      </dgm:t>
    </dgm:pt>
    <dgm:pt modelId="{5CC0B172-E34B-4CF4-A54D-73BBA2248B78}" type="sibTrans" cxnId="{E20F458D-B825-492E-8E0B-B31A4C4FB2FE}">
      <dgm:prSet/>
      <dgm:spPr/>
      <dgm:t>
        <a:bodyPr/>
        <a:lstStyle/>
        <a:p>
          <a:endParaRPr lang="en-US"/>
        </a:p>
      </dgm:t>
    </dgm:pt>
    <dgm:pt modelId="{1418DFB3-941D-4EB6-9F7A-C698D07A44C3}">
      <dgm:prSet phldrT="[Text]" phldr="0" custT="1"/>
      <dgm:spPr/>
      <dgm:t>
        <a:bodyPr/>
        <a:lstStyle/>
        <a:p>
          <a:r>
            <a:rPr lang="en-US" sz="1200" b="1" dirty="0" err="1"/>
            <a:t>Extragerea</a:t>
          </a:r>
          <a:r>
            <a:rPr lang="en-US" sz="1200" b="1" dirty="0"/>
            <a:t> </a:t>
          </a:r>
          <a:r>
            <a:rPr lang="en-US" sz="1200" b="1" dirty="0" err="1"/>
            <a:t>benzilor</a:t>
          </a:r>
          <a:r>
            <a:rPr lang="en-US" sz="1200" b="1" dirty="0"/>
            <a:t> de </a:t>
          </a:r>
          <a:r>
            <a:rPr lang="en-US" sz="1200" b="1" dirty="0" err="1"/>
            <a:t>frecventa</a:t>
          </a:r>
          <a:endParaRPr lang="en-US" sz="1200" b="1" dirty="0"/>
        </a:p>
      </dgm:t>
    </dgm:pt>
    <dgm:pt modelId="{7392DEF0-3164-42A9-A205-094697091954}" type="parTrans" cxnId="{68199EBF-441F-4CA9-9812-58E73CE5F8BE}">
      <dgm:prSet/>
      <dgm:spPr/>
      <dgm:t>
        <a:bodyPr/>
        <a:lstStyle/>
        <a:p>
          <a:endParaRPr lang="en-US"/>
        </a:p>
      </dgm:t>
    </dgm:pt>
    <dgm:pt modelId="{43CC4063-222E-46E9-8B20-7935CAEA561C}" type="sibTrans" cxnId="{68199EBF-441F-4CA9-9812-58E73CE5F8BE}">
      <dgm:prSet/>
      <dgm:spPr/>
      <dgm:t>
        <a:bodyPr/>
        <a:lstStyle/>
        <a:p>
          <a:endParaRPr lang="en-US"/>
        </a:p>
      </dgm:t>
    </dgm:pt>
    <dgm:pt modelId="{F65A0953-5C63-4553-9F2C-6F3462EB25C0}">
      <dgm:prSet phldrT="[Text]" phldr="0" custT="1"/>
      <dgm:spPr/>
      <dgm:t>
        <a:bodyPr/>
        <a:lstStyle/>
        <a:p>
          <a:r>
            <a:rPr lang="en-US" sz="1200" b="1" dirty="0" err="1"/>
            <a:t>Clasificare</a:t>
          </a:r>
          <a:r>
            <a:rPr lang="en-US" sz="1200" b="1" dirty="0"/>
            <a:t> K-Means</a:t>
          </a:r>
        </a:p>
      </dgm:t>
    </dgm:pt>
    <dgm:pt modelId="{BDC78133-BE3C-414E-B9A9-063607104B6A}" type="parTrans" cxnId="{3E4DC2CE-C2AF-4A0C-A6F2-E0713E968446}">
      <dgm:prSet/>
      <dgm:spPr/>
      <dgm:t>
        <a:bodyPr/>
        <a:lstStyle/>
        <a:p>
          <a:endParaRPr lang="en-US"/>
        </a:p>
      </dgm:t>
    </dgm:pt>
    <dgm:pt modelId="{CC1E6406-C230-43C3-B996-BDB70C13BDF2}" type="sibTrans" cxnId="{3E4DC2CE-C2AF-4A0C-A6F2-E0713E968446}">
      <dgm:prSet/>
      <dgm:spPr/>
      <dgm:t>
        <a:bodyPr/>
        <a:lstStyle/>
        <a:p>
          <a:endParaRPr lang="en-US"/>
        </a:p>
      </dgm:t>
    </dgm:pt>
    <dgm:pt modelId="{9FDFC0AD-AB6B-4D43-A918-AFD9EC0CF177}">
      <dgm:prSet phldrT="[Text]" phldr="0" custT="1"/>
      <dgm:spPr/>
      <dgm:t>
        <a:bodyPr/>
        <a:lstStyle/>
        <a:p>
          <a:r>
            <a:rPr lang="en-US" sz="1200" b="1" dirty="0" err="1"/>
            <a:t>Rezultate</a:t>
          </a:r>
          <a:r>
            <a:rPr lang="en-US" sz="1200" b="1" dirty="0"/>
            <a:t> &amp; </a:t>
          </a:r>
          <a:r>
            <a:rPr lang="en-US" sz="1200" b="1" dirty="0" err="1"/>
            <a:t>Concluzii</a:t>
          </a:r>
          <a:endParaRPr lang="en-US" sz="1200" b="1" dirty="0"/>
        </a:p>
      </dgm:t>
    </dgm:pt>
    <dgm:pt modelId="{AC0F077C-B4FB-4D3A-8C83-A7F8A4D64F49}" type="parTrans" cxnId="{9E0CE626-6F1E-4942-9A0E-3D42C5374FFE}">
      <dgm:prSet/>
      <dgm:spPr/>
      <dgm:t>
        <a:bodyPr/>
        <a:lstStyle/>
        <a:p>
          <a:endParaRPr lang="en-US"/>
        </a:p>
      </dgm:t>
    </dgm:pt>
    <dgm:pt modelId="{C1C65CA3-74C1-4C57-997E-1B258A03826E}" type="sibTrans" cxnId="{9E0CE626-6F1E-4942-9A0E-3D42C5374FFE}">
      <dgm:prSet/>
      <dgm:spPr/>
      <dgm:t>
        <a:bodyPr/>
        <a:lstStyle/>
        <a:p>
          <a:endParaRPr lang="en-US"/>
        </a:p>
      </dgm:t>
    </dgm:pt>
    <dgm:pt modelId="{FBB4AEB2-57A6-45F2-86A4-0C76B4712A7A}">
      <dgm:prSet phldrT="[Text]" phldr="0" custT="1"/>
      <dgm:spPr/>
      <dgm:t>
        <a:bodyPr/>
        <a:lstStyle/>
        <a:p>
          <a:r>
            <a:rPr lang="en-US" sz="1200" b="1" dirty="0"/>
            <a:t>Analiza </a:t>
          </a:r>
          <a:r>
            <a:rPr lang="en-US" sz="1200" b="1" dirty="0" err="1"/>
            <a:t>Hartilor</a:t>
          </a:r>
          <a:r>
            <a:rPr lang="en-US" sz="1200" b="1" dirty="0"/>
            <a:t> </a:t>
          </a:r>
          <a:r>
            <a:rPr lang="en-US" sz="1200" b="1" dirty="0" err="1"/>
            <a:t>topografice</a:t>
          </a:r>
          <a:endParaRPr lang="en-US" sz="1200" b="1" dirty="0"/>
        </a:p>
      </dgm:t>
    </dgm:pt>
    <dgm:pt modelId="{EF8C962E-BEF5-4DAC-86F1-D7EED580871D}" type="parTrans" cxnId="{B2AC14E5-873C-4721-933F-DC3ADB8BAA71}">
      <dgm:prSet/>
      <dgm:spPr/>
      <dgm:t>
        <a:bodyPr/>
        <a:lstStyle/>
        <a:p>
          <a:endParaRPr lang="en-US"/>
        </a:p>
      </dgm:t>
    </dgm:pt>
    <dgm:pt modelId="{B00D91FD-221C-46D5-8AF5-19F753E0CE29}" type="sibTrans" cxnId="{B2AC14E5-873C-4721-933F-DC3ADB8BAA71}">
      <dgm:prSet/>
      <dgm:spPr/>
      <dgm:t>
        <a:bodyPr/>
        <a:lstStyle/>
        <a:p>
          <a:endParaRPr lang="en-US"/>
        </a:p>
      </dgm:t>
    </dgm:pt>
    <dgm:pt modelId="{A03BF86E-2A6A-4D41-8B8F-9BA279CE4337}">
      <dgm:prSet phldrT="[Text]" phldr="0" custT="1"/>
      <dgm:spPr/>
      <dgm:t>
        <a:bodyPr/>
        <a:lstStyle/>
        <a:p>
          <a:r>
            <a:rPr lang="en-US" sz="1200" b="1" dirty="0" err="1"/>
            <a:t>Aplicare</a:t>
          </a:r>
          <a:r>
            <a:rPr lang="en-US" sz="1200" b="1" dirty="0"/>
            <a:t> </a:t>
          </a:r>
          <a:r>
            <a:rPr lang="en-US" sz="1200" b="1" dirty="0" err="1"/>
            <a:t>algoritm</a:t>
          </a:r>
          <a:r>
            <a:rPr lang="en-US" sz="1200" b="1" dirty="0"/>
            <a:t> </a:t>
          </a:r>
          <a:r>
            <a:rPr lang="en-US" sz="1200" b="1" dirty="0" err="1"/>
            <a:t>Entropie</a:t>
          </a:r>
          <a:r>
            <a:rPr lang="en-US" sz="1200" b="1" dirty="0"/>
            <a:t> </a:t>
          </a:r>
        </a:p>
      </dgm:t>
    </dgm:pt>
    <dgm:pt modelId="{D56E3545-E790-4570-AE9A-DB0C6EE52E05}" type="parTrans" cxnId="{57B3A9AB-87C2-4AD4-A6A6-F310799D61D6}">
      <dgm:prSet/>
      <dgm:spPr/>
      <dgm:t>
        <a:bodyPr/>
        <a:lstStyle/>
        <a:p>
          <a:endParaRPr lang="en-US"/>
        </a:p>
      </dgm:t>
    </dgm:pt>
    <dgm:pt modelId="{BFF02A3C-0889-4AF5-82B8-05DB77252777}" type="sibTrans" cxnId="{57B3A9AB-87C2-4AD4-A6A6-F310799D61D6}">
      <dgm:prSet/>
      <dgm:spPr/>
      <dgm:t>
        <a:bodyPr/>
        <a:lstStyle/>
        <a:p>
          <a:endParaRPr lang="en-US"/>
        </a:p>
      </dgm:t>
    </dgm:pt>
    <dgm:pt modelId="{3AD6F61A-C0FE-4D18-BC48-0CA3EDE2385D}" type="pres">
      <dgm:prSet presAssocID="{EC458D9B-61E1-4E06-B3F5-9DFF8E61926B}" presName="CompostProcess" presStyleCnt="0">
        <dgm:presLayoutVars>
          <dgm:dir/>
          <dgm:resizeHandles val="exact"/>
        </dgm:presLayoutVars>
      </dgm:prSet>
      <dgm:spPr/>
    </dgm:pt>
    <dgm:pt modelId="{67B9EA40-E814-4628-9B21-3489459DF123}" type="pres">
      <dgm:prSet presAssocID="{EC458D9B-61E1-4E06-B3F5-9DFF8E61926B}" presName="arrow" presStyleLbl="bgShp" presStyleIdx="0" presStyleCnt="1"/>
      <dgm:spPr/>
    </dgm:pt>
    <dgm:pt modelId="{822692F7-78EA-4F0D-8724-95FC2B982E75}" type="pres">
      <dgm:prSet presAssocID="{EC458D9B-61E1-4E06-B3F5-9DFF8E61926B}" presName="linearProcess" presStyleCnt="0"/>
      <dgm:spPr/>
    </dgm:pt>
    <dgm:pt modelId="{C86FFF2B-B46A-494E-9184-DA92632F53F4}" type="pres">
      <dgm:prSet presAssocID="{92522AD6-2A6D-417A-BE12-15BBF8E8CADE}" presName="textNode" presStyleLbl="node1" presStyleIdx="0" presStyleCnt="8">
        <dgm:presLayoutVars>
          <dgm:bulletEnabled val="1"/>
        </dgm:presLayoutVars>
      </dgm:prSet>
      <dgm:spPr/>
    </dgm:pt>
    <dgm:pt modelId="{74CD2F53-611A-4451-A207-829B248F03FE}" type="pres">
      <dgm:prSet presAssocID="{7FAB1E97-F5E7-474E-BC48-8145E171B312}" presName="sibTrans" presStyleCnt="0"/>
      <dgm:spPr/>
    </dgm:pt>
    <dgm:pt modelId="{FDA72983-FBAC-4D92-934D-D86B2D7CB457}" type="pres">
      <dgm:prSet presAssocID="{DBDD50E6-780D-44D9-977B-72C75BF3C05A}" presName="textNode" presStyleLbl="node1" presStyleIdx="1" presStyleCnt="8">
        <dgm:presLayoutVars>
          <dgm:bulletEnabled val="1"/>
        </dgm:presLayoutVars>
      </dgm:prSet>
      <dgm:spPr/>
    </dgm:pt>
    <dgm:pt modelId="{53262AB0-A885-4359-B90A-32A147F4C5A3}" type="pres">
      <dgm:prSet presAssocID="{504A0444-5EF6-446F-A2E3-D4FA6CC7070A}" presName="sibTrans" presStyleCnt="0"/>
      <dgm:spPr/>
    </dgm:pt>
    <dgm:pt modelId="{5EED80B3-4989-4D05-88EE-D4621FE41089}" type="pres">
      <dgm:prSet presAssocID="{EBF143C4-0F43-4800-9656-350A484F6E15}" presName="textNode" presStyleLbl="node1" presStyleIdx="2" presStyleCnt="8">
        <dgm:presLayoutVars>
          <dgm:bulletEnabled val="1"/>
        </dgm:presLayoutVars>
      </dgm:prSet>
      <dgm:spPr/>
    </dgm:pt>
    <dgm:pt modelId="{6C20266D-469C-4C44-9C31-BE84A5BBA0CA}" type="pres">
      <dgm:prSet presAssocID="{5CC0B172-E34B-4CF4-A54D-73BBA2248B78}" presName="sibTrans" presStyleCnt="0"/>
      <dgm:spPr/>
    </dgm:pt>
    <dgm:pt modelId="{BB331979-6C26-496D-95D6-CD94D0D18E48}" type="pres">
      <dgm:prSet presAssocID="{FBB4AEB2-57A6-45F2-86A4-0C76B4712A7A}" presName="textNode" presStyleLbl="node1" presStyleIdx="3" presStyleCnt="8">
        <dgm:presLayoutVars>
          <dgm:bulletEnabled val="1"/>
        </dgm:presLayoutVars>
      </dgm:prSet>
      <dgm:spPr/>
    </dgm:pt>
    <dgm:pt modelId="{95777282-B5A7-4A66-8E43-AC5EC67D97E2}" type="pres">
      <dgm:prSet presAssocID="{B00D91FD-221C-46D5-8AF5-19F753E0CE29}" presName="sibTrans" presStyleCnt="0"/>
      <dgm:spPr/>
    </dgm:pt>
    <dgm:pt modelId="{D074543E-F39E-49B8-9786-8528BCEE912B}" type="pres">
      <dgm:prSet presAssocID="{1418DFB3-941D-4EB6-9F7A-C698D07A44C3}" presName="textNode" presStyleLbl="node1" presStyleIdx="4" presStyleCnt="8">
        <dgm:presLayoutVars>
          <dgm:bulletEnabled val="1"/>
        </dgm:presLayoutVars>
      </dgm:prSet>
      <dgm:spPr/>
    </dgm:pt>
    <dgm:pt modelId="{793FFF07-2D8E-4AC6-9AD9-B7F40DCD5B0A}" type="pres">
      <dgm:prSet presAssocID="{43CC4063-222E-46E9-8B20-7935CAEA561C}" presName="sibTrans" presStyleCnt="0"/>
      <dgm:spPr/>
    </dgm:pt>
    <dgm:pt modelId="{3FA6C6C6-21C9-4FF4-8838-ABB1897213A2}" type="pres">
      <dgm:prSet presAssocID="{A03BF86E-2A6A-4D41-8B8F-9BA279CE4337}" presName="textNode" presStyleLbl="node1" presStyleIdx="5" presStyleCnt="8">
        <dgm:presLayoutVars>
          <dgm:bulletEnabled val="1"/>
        </dgm:presLayoutVars>
      </dgm:prSet>
      <dgm:spPr/>
    </dgm:pt>
    <dgm:pt modelId="{0C5F656A-122E-4B6B-A299-EBEA858EFD87}" type="pres">
      <dgm:prSet presAssocID="{BFF02A3C-0889-4AF5-82B8-05DB77252777}" presName="sibTrans" presStyleCnt="0"/>
      <dgm:spPr/>
    </dgm:pt>
    <dgm:pt modelId="{14CA7E6C-ACE4-453D-83CD-8DF574405F5C}" type="pres">
      <dgm:prSet presAssocID="{F65A0953-5C63-4553-9F2C-6F3462EB25C0}" presName="textNode" presStyleLbl="node1" presStyleIdx="6" presStyleCnt="8">
        <dgm:presLayoutVars>
          <dgm:bulletEnabled val="1"/>
        </dgm:presLayoutVars>
      </dgm:prSet>
      <dgm:spPr/>
    </dgm:pt>
    <dgm:pt modelId="{E64B6DEC-3875-43CE-A4C8-A18DAA444B35}" type="pres">
      <dgm:prSet presAssocID="{CC1E6406-C230-43C3-B996-BDB70C13BDF2}" presName="sibTrans" presStyleCnt="0"/>
      <dgm:spPr/>
    </dgm:pt>
    <dgm:pt modelId="{F6B46519-03C7-4998-B3B6-765FB88AD038}" type="pres">
      <dgm:prSet presAssocID="{9FDFC0AD-AB6B-4D43-A918-AFD9EC0CF177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1ADA9F03-A280-4A00-A9DE-9C6787567661}" type="presOf" srcId="{A03BF86E-2A6A-4D41-8B8F-9BA279CE4337}" destId="{3FA6C6C6-21C9-4FF4-8838-ABB1897213A2}" srcOrd="0" destOrd="0" presId="urn:microsoft.com/office/officeart/2005/8/layout/hProcess9"/>
    <dgm:cxn modelId="{44B62C06-9905-4D48-86D7-B2D7B70AC6F1}" type="presOf" srcId="{EBF143C4-0F43-4800-9656-350A484F6E15}" destId="{5EED80B3-4989-4D05-88EE-D4621FE41089}" srcOrd="0" destOrd="0" presId="urn:microsoft.com/office/officeart/2005/8/layout/hProcess9"/>
    <dgm:cxn modelId="{6D57E812-B71D-40C3-B954-EC05B56F8A20}" type="presOf" srcId="{EC458D9B-61E1-4E06-B3F5-9DFF8E61926B}" destId="{3AD6F61A-C0FE-4D18-BC48-0CA3EDE2385D}" srcOrd="0" destOrd="0" presId="urn:microsoft.com/office/officeart/2005/8/layout/hProcess9"/>
    <dgm:cxn modelId="{4993FF1F-1696-44E3-9401-D92344EA122C}" type="presOf" srcId="{9FDFC0AD-AB6B-4D43-A918-AFD9EC0CF177}" destId="{F6B46519-03C7-4998-B3B6-765FB88AD038}" srcOrd="0" destOrd="0" presId="urn:microsoft.com/office/officeart/2005/8/layout/hProcess9"/>
    <dgm:cxn modelId="{9E0CE626-6F1E-4942-9A0E-3D42C5374FFE}" srcId="{EC458D9B-61E1-4E06-B3F5-9DFF8E61926B}" destId="{9FDFC0AD-AB6B-4D43-A918-AFD9EC0CF177}" srcOrd="7" destOrd="0" parTransId="{AC0F077C-B4FB-4D3A-8C83-A7F8A4D64F49}" sibTransId="{C1C65CA3-74C1-4C57-997E-1B258A03826E}"/>
    <dgm:cxn modelId="{A5951A2F-AD5D-43E4-BA61-3D44E55B199C}" type="presOf" srcId="{F65A0953-5C63-4553-9F2C-6F3462EB25C0}" destId="{14CA7E6C-ACE4-453D-83CD-8DF574405F5C}" srcOrd="0" destOrd="0" presId="urn:microsoft.com/office/officeart/2005/8/layout/hProcess9"/>
    <dgm:cxn modelId="{24187F37-4E22-497C-9005-4338A2FCB60B}" type="presOf" srcId="{DBDD50E6-780D-44D9-977B-72C75BF3C05A}" destId="{FDA72983-FBAC-4D92-934D-D86B2D7CB457}" srcOrd="0" destOrd="0" presId="urn:microsoft.com/office/officeart/2005/8/layout/hProcess9"/>
    <dgm:cxn modelId="{6560693B-3807-4361-BDF2-525866FF56BA}" type="presOf" srcId="{1418DFB3-941D-4EB6-9F7A-C698D07A44C3}" destId="{D074543E-F39E-49B8-9786-8528BCEE912B}" srcOrd="0" destOrd="0" presId="urn:microsoft.com/office/officeart/2005/8/layout/hProcess9"/>
    <dgm:cxn modelId="{E75BE067-D6DD-4E62-881C-0FF434A081EA}" type="presOf" srcId="{FBB4AEB2-57A6-45F2-86A4-0C76B4712A7A}" destId="{BB331979-6C26-496D-95D6-CD94D0D18E48}" srcOrd="0" destOrd="0" presId="urn:microsoft.com/office/officeart/2005/8/layout/hProcess9"/>
    <dgm:cxn modelId="{F521F374-C59A-4D0E-80BF-584A4AB1A38C}" srcId="{EC458D9B-61E1-4E06-B3F5-9DFF8E61926B}" destId="{DBDD50E6-780D-44D9-977B-72C75BF3C05A}" srcOrd="1" destOrd="0" parTransId="{FD2534F9-688A-4945-B1E5-E58E7DF64058}" sibTransId="{504A0444-5EF6-446F-A2E3-D4FA6CC7070A}"/>
    <dgm:cxn modelId="{E20F458D-B825-492E-8E0B-B31A4C4FB2FE}" srcId="{EC458D9B-61E1-4E06-B3F5-9DFF8E61926B}" destId="{EBF143C4-0F43-4800-9656-350A484F6E15}" srcOrd="2" destOrd="0" parTransId="{DC4EEED0-A0AC-4914-8081-1C9F4A79AB57}" sibTransId="{5CC0B172-E34B-4CF4-A54D-73BBA2248B78}"/>
    <dgm:cxn modelId="{57B3A9AB-87C2-4AD4-A6A6-F310799D61D6}" srcId="{EC458D9B-61E1-4E06-B3F5-9DFF8E61926B}" destId="{A03BF86E-2A6A-4D41-8B8F-9BA279CE4337}" srcOrd="5" destOrd="0" parTransId="{D56E3545-E790-4570-AE9A-DB0C6EE52E05}" sibTransId="{BFF02A3C-0889-4AF5-82B8-05DB77252777}"/>
    <dgm:cxn modelId="{68199EBF-441F-4CA9-9812-58E73CE5F8BE}" srcId="{EC458D9B-61E1-4E06-B3F5-9DFF8E61926B}" destId="{1418DFB3-941D-4EB6-9F7A-C698D07A44C3}" srcOrd="4" destOrd="0" parTransId="{7392DEF0-3164-42A9-A205-094697091954}" sibTransId="{43CC4063-222E-46E9-8B20-7935CAEA561C}"/>
    <dgm:cxn modelId="{B5293EC1-B7F2-437D-A7D9-1157688E16D7}" srcId="{EC458D9B-61E1-4E06-B3F5-9DFF8E61926B}" destId="{92522AD6-2A6D-417A-BE12-15BBF8E8CADE}" srcOrd="0" destOrd="0" parTransId="{593BCD11-9FF8-4EAA-9A70-FF2DCF5B0306}" sibTransId="{7FAB1E97-F5E7-474E-BC48-8145E171B312}"/>
    <dgm:cxn modelId="{3E4DC2CE-C2AF-4A0C-A6F2-E0713E968446}" srcId="{EC458D9B-61E1-4E06-B3F5-9DFF8E61926B}" destId="{F65A0953-5C63-4553-9F2C-6F3462EB25C0}" srcOrd="6" destOrd="0" parTransId="{BDC78133-BE3C-414E-B9A9-063607104B6A}" sibTransId="{CC1E6406-C230-43C3-B996-BDB70C13BDF2}"/>
    <dgm:cxn modelId="{6A4795E3-F01E-4078-BF2E-14FB8E8F3490}" type="presOf" srcId="{92522AD6-2A6D-417A-BE12-15BBF8E8CADE}" destId="{C86FFF2B-B46A-494E-9184-DA92632F53F4}" srcOrd="0" destOrd="0" presId="urn:microsoft.com/office/officeart/2005/8/layout/hProcess9"/>
    <dgm:cxn modelId="{B2AC14E5-873C-4721-933F-DC3ADB8BAA71}" srcId="{EC458D9B-61E1-4E06-B3F5-9DFF8E61926B}" destId="{FBB4AEB2-57A6-45F2-86A4-0C76B4712A7A}" srcOrd="3" destOrd="0" parTransId="{EF8C962E-BEF5-4DAC-86F1-D7EED580871D}" sibTransId="{B00D91FD-221C-46D5-8AF5-19F753E0CE29}"/>
    <dgm:cxn modelId="{F9A4F325-B999-426B-8676-3AA299D96DE8}" type="presParOf" srcId="{3AD6F61A-C0FE-4D18-BC48-0CA3EDE2385D}" destId="{67B9EA40-E814-4628-9B21-3489459DF123}" srcOrd="0" destOrd="0" presId="urn:microsoft.com/office/officeart/2005/8/layout/hProcess9"/>
    <dgm:cxn modelId="{A31D7AC8-1A89-4674-9FE6-B391F28104EC}" type="presParOf" srcId="{3AD6F61A-C0FE-4D18-BC48-0CA3EDE2385D}" destId="{822692F7-78EA-4F0D-8724-95FC2B982E75}" srcOrd="1" destOrd="0" presId="urn:microsoft.com/office/officeart/2005/8/layout/hProcess9"/>
    <dgm:cxn modelId="{E918484C-A76B-45E3-BF66-CA090C65BD0B}" type="presParOf" srcId="{822692F7-78EA-4F0D-8724-95FC2B982E75}" destId="{C86FFF2B-B46A-494E-9184-DA92632F53F4}" srcOrd="0" destOrd="0" presId="urn:microsoft.com/office/officeart/2005/8/layout/hProcess9"/>
    <dgm:cxn modelId="{B7F876ED-A05A-4B05-B964-FDA7EFA4672B}" type="presParOf" srcId="{822692F7-78EA-4F0D-8724-95FC2B982E75}" destId="{74CD2F53-611A-4451-A207-829B248F03FE}" srcOrd="1" destOrd="0" presId="urn:microsoft.com/office/officeart/2005/8/layout/hProcess9"/>
    <dgm:cxn modelId="{79FEEF6C-07C5-46CA-A24A-EFCE9CDAFC9A}" type="presParOf" srcId="{822692F7-78EA-4F0D-8724-95FC2B982E75}" destId="{FDA72983-FBAC-4D92-934D-D86B2D7CB457}" srcOrd="2" destOrd="0" presId="urn:microsoft.com/office/officeart/2005/8/layout/hProcess9"/>
    <dgm:cxn modelId="{03C27B64-A5CD-4D92-88FD-B2800A5AEEB8}" type="presParOf" srcId="{822692F7-78EA-4F0D-8724-95FC2B982E75}" destId="{53262AB0-A885-4359-B90A-32A147F4C5A3}" srcOrd="3" destOrd="0" presId="urn:microsoft.com/office/officeart/2005/8/layout/hProcess9"/>
    <dgm:cxn modelId="{AC58B7D8-032F-446A-9DBE-F0E4850B46C9}" type="presParOf" srcId="{822692F7-78EA-4F0D-8724-95FC2B982E75}" destId="{5EED80B3-4989-4D05-88EE-D4621FE41089}" srcOrd="4" destOrd="0" presId="urn:microsoft.com/office/officeart/2005/8/layout/hProcess9"/>
    <dgm:cxn modelId="{383A02CA-960D-4DD2-AA1F-3B015A9B9B06}" type="presParOf" srcId="{822692F7-78EA-4F0D-8724-95FC2B982E75}" destId="{6C20266D-469C-4C44-9C31-BE84A5BBA0CA}" srcOrd="5" destOrd="0" presId="urn:microsoft.com/office/officeart/2005/8/layout/hProcess9"/>
    <dgm:cxn modelId="{D5A41764-6311-4A0B-901E-08A5C59E1288}" type="presParOf" srcId="{822692F7-78EA-4F0D-8724-95FC2B982E75}" destId="{BB331979-6C26-496D-95D6-CD94D0D18E48}" srcOrd="6" destOrd="0" presId="urn:microsoft.com/office/officeart/2005/8/layout/hProcess9"/>
    <dgm:cxn modelId="{A9FE42F4-6FEE-46F2-B9F2-74DFEB3943BF}" type="presParOf" srcId="{822692F7-78EA-4F0D-8724-95FC2B982E75}" destId="{95777282-B5A7-4A66-8E43-AC5EC67D97E2}" srcOrd="7" destOrd="0" presId="urn:microsoft.com/office/officeart/2005/8/layout/hProcess9"/>
    <dgm:cxn modelId="{CA033815-5804-4ECE-96F9-5CDDF60E5EC0}" type="presParOf" srcId="{822692F7-78EA-4F0D-8724-95FC2B982E75}" destId="{D074543E-F39E-49B8-9786-8528BCEE912B}" srcOrd="8" destOrd="0" presId="urn:microsoft.com/office/officeart/2005/8/layout/hProcess9"/>
    <dgm:cxn modelId="{3632471C-9604-467A-A3AE-6B6D396E9765}" type="presParOf" srcId="{822692F7-78EA-4F0D-8724-95FC2B982E75}" destId="{793FFF07-2D8E-4AC6-9AD9-B7F40DCD5B0A}" srcOrd="9" destOrd="0" presId="urn:microsoft.com/office/officeart/2005/8/layout/hProcess9"/>
    <dgm:cxn modelId="{8AE1F43E-2B77-4897-9FD9-4E4BB5F9240B}" type="presParOf" srcId="{822692F7-78EA-4F0D-8724-95FC2B982E75}" destId="{3FA6C6C6-21C9-4FF4-8838-ABB1897213A2}" srcOrd="10" destOrd="0" presId="urn:microsoft.com/office/officeart/2005/8/layout/hProcess9"/>
    <dgm:cxn modelId="{AABB289B-5B4C-43C8-B3C2-3953BD0F83DB}" type="presParOf" srcId="{822692F7-78EA-4F0D-8724-95FC2B982E75}" destId="{0C5F656A-122E-4B6B-A299-EBEA858EFD87}" srcOrd="11" destOrd="0" presId="urn:microsoft.com/office/officeart/2005/8/layout/hProcess9"/>
    <dgm:cxn modelId="{41AD39E1-12BD-42D8-BFDD-D1F025175D35}" type="presParOf" srcId="{822692F7-78EA-4F0D-8724-95FC2B982E75}" destId="{14CA7E6C-ACE4-453D-83CD-8DF574405F5C}" srcOrd="12" destOrd="0" presId="urn:microsoft.com/office/officeart/2005/8/layout/hProcess9"/>
    <dgm:cxn modelId="{4B3F04DF-9098-41CD-AA0E-5F46E3CE962E}" type="presParOf" srcId="{822692F7-78EA-4F0D-8724-95FC2B982E75}" destId="{E64B6DEC-3875-43CE-A4C8-A18DAA444B35}" srcOrd="13" destOrd="0" presId="urn:microsoft.com/office/officeart/2005/8/layout/hProcess9"/>
    <dgm:cxn modelId="{4241FC53-10D1-4BF6-B107-22C52AA6BA88}" type="presParOf" srcId="{822692F7-78EA-4F0D-8724-95FC2B982E75}" destId="{F6B46519-03C7-4998-B3B6-765FB88AD038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9EA40-E814-4628-9B21-3489459DF123}">
      <dsp:nvSpPr>
        <dsp:cNvPr id="0" name=""/>
        <dsp:cNvSpPr/>
      </dsp:nvSpPr>
      <dsp:spPr>
        <a:xfrm>
          <a:off x="672202" y="0"/>
          <a:ext cx="7618291" cy="395950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86FFF2B-B46A-494E-9184-DA92632F53F4}">
      <dsp:nvSpPr>
        <dsp:cNvPr id="0" name=""/>
        <dsp:cNvSpPr/>
      </dsp:nvSpPr>
      <dsp:spPr>
        <a:xfrm>
          <a:off x="4376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Scopul</a:t>
          </a:r>
          <a:r>
            <a:rPr lang="en-US" sz="1200" b="1" kern="1200" dirty="0"/>
            <a:t> </a:t>
          </a:r>
          <a:r>
            <a:rPr lang="en-US" sz="1200" b="1" kern="1200" dirty="0" err="1"/>
            <a:t>Proiectului</a:t>
          </a:r>
          <a:endParaRPr lang="en-US" sz="1200" b="1" kern="1200" dirty="0"/>
        </a:p>
      </dsp:txBody>
      <dsp:txXfrm>
        <a:off x="52059" y="1235535"/>
        <a:ext cx="881427" cy="1488437"/>
      </dsp:txXfrm>
    </dsp:sp>
    <dsp:sp modelId="{FDA72983-FBAC-4D92-934D-D86B2D7CB457}">
      <dsp:nvSpPr>
        <dsp:cNvPr id="0" name=""/>
        <dsp:cNvSpPr/>
      </dsp:nvSpPr>
      <dsp:spPr>
        <a:xfrm>
          <a:off x="1143969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Analiza </a:t>
          </a:r>
          <a:r>
            <a:rPr lang="en-US" sz="1200" b="1" kern="1200" dirty="0" err="1"/>
            <a:t>setului</a:t>
          </a:r>
          <a:r>
            <a:rPr lang="en-US" sz="1200" b="1" kern="1200" dirty="0"/>
            <a:t> de date</a:t>
          </a:r>
        </a:p>
      </dsp:txBody>
      <dsp:txXfrm>
        <a:off x="1191652" y="1235535"/>
        <a:ext cx="881427" cy="1488437"/>
      </dsp:txXfrm>
    </dsp:sp>
    <dsp:sp modelId="{5EED80B3-4989-4D05-88EE-D4621FE41089}">
      <dsp:nvSpPr>
        <dsp:cNvPr id="0" name=""/>
        <dsp:cNvSpPr/>
      </dsp:nvSpPr>
      <dsp:spPr>
        <a:xfrm>
          <a:off x="2283561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Preprocesare</a:t>
          </a:r>
        </a:p>
      </dsp:txBody>
      <dsp:txXfrm>
        <a:off x="2331244" y="1235535"/>
        <a:ext cx="881427" cy="1488437"/>
      </dsp:txXfrm>
    </dsp:sp>
    <dsp:sp modelId="{BB331979-6C26-496D-95D6-CD94D0D18E48}">
      <dsp:nvSpPr>
        <dsp:cNvPr id="0" name=""/>
        <dsp:cNvSpPr/>
      </dsp:nvSpPr>
      <dsp:spPr>
        <a:xfrm>
          <a:off x="3423154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Analiza </a:t>
          </a:r>
          <a:r>
            <a:rPr lang="en-US" sz="1200" b="1" kern="1200" dirty="0" err="1"/>
            <a:t>Hartilor</a:t>
          </a:r>
          <a:r>
            <a:rPr lang="en-US" sz="1200" b="1" kern="1200" dirty="0"/>
            <a:t> </a:t>
          </a:r>
          <a:r>
            <a:rPr lang="en-US" sz="1200" b="1" kern="1200" dirty="0" err="1"/>
            <a:t>topografice</a:t>
          </a:r>
          <a:endParaRPr lang="en-US" sz="1200" b="1" kern="1200" dirty="0"/>
        </a:p>
      </dsp:txBody>
      <dsp:txXfrm>
        <a:off x="3470837" y="1235535"/>
        <a:ext cx="881427" cy="1488437"/>
      </dsp:txXfrm>
    </dsp:sp>
    <dsp:sp modelId="{D074543E-F39E-49B8-9786-8528BCEE912B}">
      <dsp:nvSpPr>
        <dsp:cNvPr id="0" name=""/>
        <dsp:cNvSpPr/>
      </dsp:nvSpPr>
      <dsp:spPr>
        <a:xfrm>
          <a:off x="4562747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Extragerea</a:t>
          </a:r>
          <a:r>
            <a:rPr lang="en-US" sz="1200" b="1" kern="1200" dirty="0"/>
            <a:t> </a:t>
          </a:r>
          <a:r>
            <a:rPr lang="en-US" sz="1200" b="1" kern="1200" dirty="0" err="1"/>
            <a:t>benzilor</a:t>
          </a:r>
          <a:r>
            <a:rPr lang="en-US" sz="1200" b="1" kern="1200" dirty="0"/>
            <a:t> de </a:t>
          </a:r>
          <a:r>
            <a:rPr lang="en-US" sz="1200" b="1" kern="1200" dirty="0" err="1"/>
            <a:t>frecventa</a:t>
          </a:r>
          <a:endParaRPr lang="en-US" sz="1200" b="1" kern="1200" dirty="0"/>
        </a:p>
      </dsp:txBody>
      <dsp:txXfrm>
        <a:off x="4610430" y="1235535"/>
        <a:ext cx="881427" cy="1488437"/>
      </dsp:txXfrm>
    </dsp:sp>
    <dsp:sp modelId="{3FA6C6C6-21C9-4FF4-8838-ABB1897213A2}">
      <dsp:nvSpPr>
        <dsp:cNvPr id="0" name=""/>
        <dsp:cNvSpPr/>
      </dsp:nvSpPr>
      <dsp:spPr>
        <a:xfrm>
          <a:off x="5702340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Aplicare</a:t>
          </a:r>
          <a:r>
            <a:rPr lang="en-US" sz="1200" b="1" kern="1200" dirty="0"/>
            <a:t> </a:t>
          </a:r>
          <a:r>
            <a:rPr lang="en-US" sz="1200" b="1" kern="1200" dirty="0" err="1"/>
            <a:t>algoritm</a:t>
          </a:r>
          <a:r>
            <a:rPr lang="en-US" sz="1200" b="1" kern="1200" dirty="0"/>
            <a:t> </a:t>
          </a:r>
          <a:r>
            <a:rPr lang="en-US" sz="1200" b="1" kern="1200" dirty="0" err="1"/>
            <a:t>Entropie</a:t>
          </a:r>
          <a:r>
            <a:rPr lang="en-US" sz="1200" b="1" kern="1200" dirty="0"/>
            <a:t> </a:t>
          </a:r>
        </a:p>
      </dsp:txBody>
      <dsp:txXfrm>
        <a:off x="5750023" y="1235535"/>
        <a:ext cx="881427" cy="1488437"/>
      </dsp:txXfrm>
    </dsp:sp>
    <dsp:sp modelId="{14CA7E6C-ACE4-453D-83CD-8DF574405F5C}">
      <dsp:nvSpPr>
        <dsp:cNvPr id="0" name=""/>
        <dsp:cNvSpPr/>
      </dsp:nvSpPr>
      <dsp:spPr>
        <a:xfrm>
          <a:off x="6841933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Clasificare</a:t>
          </a:r>
          <a:r>
            <a:rPr lang="en-US" sz="1200" b="1" kern="1200" dirty="0"/>
            <a:t> K-Means</a:t>
          </a:r>
        </a:p>
      </dsp:txBody>
      <dsp:txXfrm>
        <a:off x="6889616" y="1235535"/>
        <a:ext cx="881427" cy="1488437"/>
      </dsp:txXfrm>
    </dsp:sp>
    <dsp:sp modelId="{F6B46519-03C7-4998-B3B6-765FB88AD038}">
      <dsp:nvSpPr>
        <dsp:cNvPr id="0" name=""/>
        <dsp:cNvSpPr/>
      </dsp:nvSpPr>
      <dsp:spPr>
        <a:xfrm>
          <a:off x="7981525" y="1187852"/>
          <a:ext cx="976793" cy="15838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Rezultate</a:t>
          </a:r>
          <a:r>
            <a:rPr lang="en-US" sz="1200" b="1" kern="1200" dirty="0"/>
            <a:t> &amp; </a:t>
          </a:r>
          <a:r>
            <a:rPr lang="en-US" sz="1200" b="1" kern="1200" dirty="0" err="1"/>
            <a:t>Concluzii</a:t>
          </a:r>
          <a:endParaRPr lang="en-US" sz="1200" b="1" kern="1200" dirty="0"/>
        </a:p>
      </dsp:txBody>
      <dsp:txXfrm>
        <a:off x="8029208" y="1235535"/>
        <a:ext cx="881427" cy="1488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82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C293-33BF-9364-93C0-128D240B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89382-770C-FC63-811C-4EA39C1B2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F4346-4759-F8C9-FFC5-DBECB007C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475D1-C5C1-941F-60EF-77AD4BC70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18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D9DDD-2B2F-0D86-5FC7-21783073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C0888-6B10-EBFA-B3AF-5762EAA5E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D4A6E-9648-635D-F351-EF81D78D4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A1EC6-337E-1127-A49A-C45DC6A58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64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88DBAAB1-A010-3D17-1972-37F5ED72F14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620D040E-03A3-7859-6104-6C59E50234C0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91F1EB82-D7AB-8409-3FC3-BD0A4EE3B056}"/>
              </a:ext>
            </a:extLst>
          </p:cNvPr>
          <p:cNvSpPr/>
          <p:nvPr/>
        </p:nvSpPr>
        <p:spPr>
          <a:xfrm>
            <a:off x="5334886" y="147783"/>
            <a:ext cx="365760" cy="3657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9C68880F-3112-B684-1DE7-D33F7CCF579D}"/>
              </a:ext>
            </a:extLst>
          </p:cNvPr>
          <p:cNvSpPr/>
          <p:nvPr/>
        </p:nvSpPr>
        <p:spPr>
          <a:xfrm>
            <a:off x="5883526" y="422103"/>
            <a:ext cx="365760" cy="3657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ED77E29E-0824-6E01-B738-F6CDD4E8362A}"/>
              </a:ext>
            </a:extLst>
          </p:cNvPr>
          <p:cNvSpPr/>
          <p:nvPr/>
        </p:nvSpPr>
        <p:spPr>
          <a:xfrm>
            <a:off x="6432166" y="696423"/>
            <a:ext cx="365760" cy="3657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95F46A9-0A4B-0BF9-B617-53E1317EFBB2}"/>
              </a:ext>
            </a:extLst>
          </p:cNvPr>
          <p:cNvSpPr/>
          <p:nvPr/>
        </p:nvSpPr>
        <p:spPr>
          <a:xfrm>
            <a:off x="6999094" y="1062183"/>
            <a:ext cx="365760" cy="3657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D0186ED5-A2A8-BB19-EB27-A50C842BE236}"/>
              </a:ext>
            </a:extLst>
          </p:cNvPr>
          <p:cNvSpPr/>
          <p:nvPr/>
        </p:nvSpPr>
        <p:spPr>
          <a:xfrm>
            <a:off x="7547734" y="1336503"/>
            <a:ext cx="365760" cy="36576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40A88396-E22E-61ED-C364-C0C453C3C2D9}"/>
              </a:ext>
            </a:extLst>
          </p:cNvPr>
          <p:cNvSpPr/>
          <p:nvPr/>
        </p:nvSpPr>
        <p:spPr>
          <a:xfrm>
            <a:off x="34271" y="1313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INGINERIA REGLĂRII AUTOMATE II  •  UTCN  •  2025–2026</a:t>
            </a:r>
            <a:endParaRPr lang="en-US" sz="1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8E0F026-8700-5719-EA9D-96AF1AE44656}"/>
              </a:ext>
            </a:extLst>
          </p:cNvPr>
          <p:cNvSpPr/>
          <p:nvPr/>
        </p:nvSpPr>
        <p:spPr>
          <a:xfrm>
            <a:off x="256032" y="1005840"/>
            <a:ext cx="6620256" cy="2636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/>
              <a:t>Analiza </a:t>
            </a:r>
            <a:r>
              <a:rPr lang="en-US" sz="3200" dirty="0" err="1"/>
              <a:t>semnalelor</a:t>
            </a:r>
            <a:r>
              <a:rPr lang="en-US" sz="3200" dirty="0"/>
              <a:t> EEG </a:t>
            </a:r>
            <a:r>
              <a:rPr lang="en-US" sz="3200" dirty="0" err="1"/>
              <a:t>pentru</a:t>
            </a:r>
            <a:r>
              <a:rPr lang="en-US" sz="3200" dirty="0"/>
              <a:t> </a:t>
            </a:r>
            <a:r>
              <a:rPr lang="en-US" sz="3200" dirty="0" err="1"/>
              <a:t>estimarea</a:t>
            </a:r>
            <a:r>
              <a:rPr lang="en-US" sz="3200" dirty="0"/>
              <a:t> non-</a:t>
            </a:r>
            <a:r>
              <a:rPr lang="en-US" sz="3200" dirty="0" err="1"/>
              <a:t>invazivă</a:t>
            </a:r>
            <a:r>
              <a:rPr lang="en-US" sz="3200" dirty="0"/>
              <a:t> a </a:t>
            </a:r>
            <a:r>
              <a:rPr lang="en-US" sz="3200" dirty="0" err="1"/>
              <a:t>riscului</a:t>
            </a:r>
            <a:r>
              <a:rPr lang="en-US" sz="3200" dirty="0"/>
              <a:t> de </a:t>
            </a:r>
            <a:r>
              <a:rPr lang="en-US" sz="3200" dirty="0" err="1"/>
              <a:t>diabet</a:t>
            </a:r>
            <a:r>
              <a:rPr lang="en-US" sz="3200" dirty="0"/>
              <a:t> </a:t>
            </a:r>
            <a:r>
              <a:rPr lang="en-US" sz="3200" dirty="0" err="1"/>
              <a:t>zaharat</a:t>
            </a:r>
            <a:r>
              <a:rPr lang="en-US" sz="3200" dirty="0"/>
              <a:t>.</a:t>
            </a: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4145970-7AF9-D491-2B2C-602BC9381652}"/>
              </a:ext>
            </a:extLst>
          </p:cNvPr>
          <p:cNvSpPr/>
          <p:nvPr/>
        </p:nvSpPr>
        <p:spPr>
          <a:xfrm>
            <a:off x="274320" y="2926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DB909723-A954-8FCE-C0CF-95BB9D9E8A26}"/>
              </a:ext>
            </a:extLst>
          </p:cNvPr>
          <p:cNvSpPr/>
          <p:nvPr/>
        </p:nvSpPr>
        <p:spPr>
          <a:xfrm>
            <a:off x="274320" y="3931920"/>
            <a:ext cx="3200400" cy="777240"/>
          </a:xfrm>
          <a:prstGeom prst="rect">
            <a:avLst/>
          </a:prstGeom>
          <a:solidFill>
            <a:srgbClr val="0077B6">
              <a:alpha val="70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28F7157C-5F0B-B258-11A7-DA08537AACF0}"/>
              </a:ext>
            </a:extLst>
          </p:cNvPr>
          <p:cNvSpPr/>
          <p:nvPr/>
        </p:nvSpPr>
        <p:spPr>
          <a:xfrm>
            <a:off x="320040" y="3977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Daju Bianca Teodora  |  Grupa 30135</a:t>
            </a:r>
            <a:endParaRPr lang="en-US" sz="12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E5A6E971-879A-0F3C-D499-B1EF1C0FA638}"/>
              </a:ext>
            </a:extLst>
          </p:cNvPr>
          <p:cNvSpPr/>
          <p:nvPr/>
        </p:nvSpPr>
        <p:spPr>
          <a:xfrm>
            <a:off x="6876288" y="1005840"/>
            <a:ext cx="2011680" cy="3200400"/>
          </a:xfrm>
          <a:prstGeom prst="rect">
            <a:avLst/>
          </a:prstGeom>
          <a:solidFill>
            <a:srgbClr val="1B2A4A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BDA7775A-9F13-3B96-88C5-6F9C877F73FF}"/>
              </a:ext>
            </a:extLst>
          </p:cNvPr>
          <p:cNvSpPr/>
          <p:nvPr/>
        </p:nvSpPr>
        <p:spPr>
          <a:xfrm>
            <a:off x="6876288" y="100584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800" dirty="0"/>
          </a:p>
        </p:txBody>
      </p:sp>
      <p:pic>
        <p:nvPicPr>
          <p:cNvPr id="32" name="Picture 31" descr="Computer Generated Lights">
            <a:extLst>
              <a:ext uri="{FF2B5EF4-FFF2-40B4-BE49-F238E27FC236}">
                <a16:creationId xmlns:a16="http://schemas.microsoft.com/office/drawing/2014/main" id="{B018C5D7-2A69-5084-3C81-67820CF97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050" y="2148840"/>
            <a:ext cx="1112158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Prezentării</a:t>
            </a:r>
            <a:endParaRPr lang="en-US" sz="2800" dirty="0"/>
          </a:p>
        </p:txBody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C69DBE5E-5B72-BA20-8FF1-959EA13C6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9519495"/>
              </p:ext>
            </p:extLst>
          </p:nvPr>
        </p:nvGraphicFramePr>
        <p:xfrm>
          <a:off x="90652" y="591996"/>
          <a:ext cx="8962696" cy="3959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>
            <a:extLst>
              <a:ext uri="{FF2B5EF4-FFF2-40B4-BE49-F238E27FC236}">
                <a16:creationId xmlns:a16="http://schemas.microsoft.com/office/drawing/2014/main" id="{77B12A7B-DAD4-FDA5-6CDA-517129E9F11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986C790-127C-636F-AFE8-F3B58BD54C98}"/>
              </a:ext>
            </a:extLst>
          </p:cNvPr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EEG pentru Diabet?</a:t>
            </a:r>
            <a:endParaRPr lang="en-US" sz="26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4CE3A10E-EFB5-C353-9E48-894BF99D3BE0}"/>
              </a:ext>
            </a:extLst>
          </p:cNvPr>
          <p:cNvSpPr/>
          <p:nvPr/>
        </p:nvSpPr>
        <p:spPr>
          <a:xfrm>
            <a:off x="365760" y="822960"/>
            <a:ext cx="2286000" cy="1828800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B369280-4D56-405A-46C1-8A56DFC3CB11}"/>
              </a:ext>
            </a:extLst>
          </p:cNvPr>
          <p:cNvSpPr/>
          <p:nvPr/>
        </p:nvSpPr>
        <p:spPr>
          <a:xfrm>
            <a:off x="365760" y="868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56A5D09C-0058-C987-0C7B-B2C113A41552}"/>
              </a:ext>
            </a:extLst>
          </p:cNvPr>
          <p:cNvSpPr/>
          <p:nvPr/>
        </p:nvSpPr>
        <p:spPr>
          <a:xfrm>
            <a:off x="365760" y="1783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populația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adultă globală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diabet</a:t>
            </a:r>
            <a:endParaRPr lang="en-US" sz="11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28B73641-1BFE-5870-D6D8-5B3460ED5E35}"/>
              </a:ext>
            </a:extLst>
          </p:cNvPr>
          <p:cNvSpPr/>
          <p:nvPr/>
        </p:nvSpPr>
        <p:spPr>
          <a:xfrm>
            <a:off x="2926080" y="822960"/>
            <a:ext cx="5852160" cy="86868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2AFC994C-A250-DADE-BC81-FEE06D29D259}"/>
              </a:ext>
            </a:extLst>
          </p:cNvPr>
          <p:cNvSpPr/>
          <p:nvPr/>
        </p:nvSpPr>
        <p:spPr>
          <a:xfrm>
            <a:off x="3063240" y="84124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Glucoza = principala sursă de energie pentru creier</a:t>
            </a:r>
            <a:endParaRPr lang="en-US" sz="13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0BFE14ED-DEC0-5691-4DFF-5CCCF2CC7135}"/>
              </a:ext>
            </a:extLst>
          </p:cNvPr>
          <p:cNvSpPr/>
          <p:nvPr/>
        </p:nvSpPr>
        <p:spPr>
          <a:xfrm>
            <a:off x="2926080" y="1828800"/>
            <a:ext cx="5852160" cy="86868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EB12544-526F-12C5-A430-436DB35AFD2E}"/>
              </a:ext>
            </a:extLst>
          </p:cNvPr>
          <p:cNvSpPr/>
          <p:nvPr/>
        </p:nvSpPr>
        <p:spPr>
          <a:xfrm>
            <a:off x="3063240" y="184708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Variațiile glicemice influențează direct activitatea neuronală</a:t>
            </a:r>
            <a:endParaRPr lang="en-US" sz="13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28C7A00C-1A9B-DD3D-AE8A-2C6093E62FBB}"/>
              </a:ext>
            </a:extLst>
          </p:cNvPr>
          <p:cNvSpPr/>
          <p:nvPr/>
        </p:nvSpPr>
        <p:spPr>
          <a:xfrm>
            <a:off x="2926080" y="2834640"/>
            <a:ext cx="5852160" cy="86868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C74C6700-3795-FEEB-B601-675AC3A1C46E}"/>
              </a:ext>
            </a:extLst>
          </p:cNvPr>
          <p:cNvSpPr/>
          <p:nvPr/>
        </p:nvSpPr>
        <p:spPr>
          <a:xfrm>
            <a:off x="3063240" y="285292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Modificări EEG detectabile ÎNAINTE de simptome clinice</a:t>
            </a:r>
            <a:endParaRPr lang="en-US" sz="13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CBE437D2-C71C-E29C-86AD-9DEDF187D78B}"/>
              </a:ext>
            </a:extLst>
          </p:cNvPr>
          <p:cNvSpPr/>
          <p:nvPr/>
        </p:nvSpPr>
        <p:spPr>
          <a:xfrm>
            <a:off x="2926080" y="3840480"/>
            <a:ext cx="5852160" cy="86868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B1D89D8C-A3A3-9316-6697-00B05E856D25}"/>
              </a:ext>
            </a:extLst>
          </p:cNvPr>
          <p:cNvSpPr/>
          <p:nvPr/>
        </p:nvSpPr>
        <p:spPr>
          <a:xfrm>
            <a:off x="3063240" y="385876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Obiectiv: monitorizare NON-INVAZIVĂ prin semnale cerebrale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Stimuli Fiziologici Standardizați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3840480"/>
          </a:xfrm>
          <a:prstGeom prst="rect">
            <a:avLst/>
          </a:prstGeom>
          <a:solidFill>
            <a:srgbClr val="E8F4FD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Stres Termic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Pressor Test (CPT)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Mâna introdusă în apă cu gheață (0–4°C)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Durere progresivă + activare nerv simpatic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41 de </a:t>
            </a:r>
            <a:r>
              <a:rPr lang="en-US" sz="11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0954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~169 sec / subiect (2 min 49 sec)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Modificări observate în benzile Theta și Beta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4023360" cy="3840480"/>
          </a:xfrm>
          <a:prstGeom prst="rect">
            <a:avLst/>
          </a:prstGeom>
          <a:solidFill>
            <a:srgbClr val="FFF0F3"/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868680"/>
            <a:ext cx="402336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Ascutit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Stimulare Mecanică Nociceptivă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Presiune punctiformă la suprafața pielii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35000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Șoc acut → reflex motor de tresărire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277977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36 de personae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20954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~11.7 sec / subiect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36393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Activare benzi Beta și Gamma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2194560"/>
            <a:ext cx="420624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61688" y="2194560"/>
            <a:ext cx="420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B7BB65-DBA7-5EC1-17E1-EDF063920C9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20AE32-0A70-CFD2-CD31-71130ADBD866}"/>
              </a:ext>
            </a:extLst>
          </p:cNvPr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ACHIZITIA DATELOR — Dispozitiv Bitbrain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0BCB54-193C-D83F-6A27-EB814674FB20}"/>
              </a:ext>
            </a:extLst>
          </p:cNvPr>
          <p:cNvSpPr/>
          <p:nvPr/>
        </p:nvSpPr>
        <p:spPr>
          <a:xfrm>
            <a:off x="457200" y="685800"/>
            <a:ext cx="1828800" cy="457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32A074-B90E-BFE0-0644-B186F46855FE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21A48A3-BC9F-C72E-EED0-2B8069166BDB}"/>
              </a:ext>
            </a:extLst>
          </p:cNvPr>
          <p:cNvSpPr/>
          <p:nvPr/>
        </p:nvSpPr>
        <p:spPr>
          <a:xfrm>
            <a:off x="365760" y="868680"/>
            <a:ext cx="36576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EB6C632-D0F9-ED26-E29F-073A3907F81F}"/>
              </a:ext>
            </a:extLst>
          </p:cNvPr>
          <p:cNvSpPr/>
          <p:nvPr/>
        </p:nvSpPr>
        <p:spPr>
          <a:xfrm>
            <a:off x="365760" y="868680"/>
            <a:ext cx="3657600" cy="36576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D9C4F8-0DD1-4F9F-3635-E9ED4D3CE7CA}"/>
              </a:ext>
            </a:extLst>
          </p:cNvPr>
          <p:cNvSpPr/>
          <p:nvPr/>
        </p:nvSpPr>
        <p:spPr>
          <a:xfrm>
            <a:off x="36576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Specificatii Tehnice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E01D915-4C1D-DA23-CACE-393FEB544154}"/>
              </a:ext>
            </a:extLst>
          </p:cNvPr>
          <p:cNvSpPr/>
          <p:nvPr/>
        </p:nvSpPr>
        <p:spPr>
          <a:xfrm>
            <a:off x="365760" y="1316736"/>
            <a:ext cx="36576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D8DACBA-DFAA-E60E-C8D1-97A5C9F3563B}"/>
              </a:ext>
            </a:extLst>
          </p:cNvPr>
          <p:cNvSpPr/>
          <p:nvPr/>
        </p:nvSpPr>
        <p:spPr>
          <a:xfrm>
            <a:off x="457200" y="1316736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Dispozitiv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72EB96C-4385-33D8-C400-769C8843BD9C}"/>
              </a:ext>
            </a:extLst>
          </p:cNvPr>
          <p:cNvSpPr/>
          <p:nvPr/>
        </p:nvSpPr>
        <p:spPr>
          <a:xfrm>
            <a:off x="2011680" y="1316736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Bitbrain EEG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7734562-A098-EB2B-B8C9-2B31261C2753}"/>
              </a:ext>
            </a:extLst>
          </p:cNvPr>
          <p:cNvSpPr/>
          <p:nvPr/>
        </p:nvSpPr>
        <p:spPr>
          <a:xfrm>
            <a:off x="365760" y="1737360"/>
            <a:ext cx="3657600" cy="402336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A7131E2-8375-53EE-6704-55F78A4F106C}"/>
              </a:ext>
            </a:extLst>
          </p:cNvPr>
          <p:cNvSpPr/>
          <p:nvPr/>
        </p:nvSpPr>
        <p:spPr>
          <a:xfrm>
            <a:off x="457200" y="1737360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F18A5B-86AE-A0D5-A2D0-61D1B0571381}"/>
              </a:ext>
            </a:extLst>
          </p:cNvPr>
          <p:cNvSpPr/>
          <p:nvPr/>
        </p:nvSpPr>
        <p:spPr>
          <a:xfrm>
            <a:off x="2011680" y="1737360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electrozi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932F6C0-FDE4-1869-495B-71283B5FAC07}"/>
              </a:ext>
            </a:extLst>
          </p:cNvPr>
          <p:cNvSpPr/>
          <p:nvPr/>
        </p:nvSpPr>
        <p:spPr>
          <a:xfrm>
            <a:off x="365760" y="2157984"/>
            <a:ext cx="36576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B1B8F4-4B89-7AEC-7D96-21DD0EB53498}"/>
              </a:ext>
            </a:extLst>
          </p:cNvPr>
          <p:cNvSpPr/>
          <p:nvPr/>
        </p:nvSpPr>
        <p:spPr>
          <a:xfrm>
            <a:off x="457200" y="2157984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pozitionare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39ACB2-F0D2-B99C-0B80-97A4429FB76F}"/>
              </a:ext>
            </a:extLst>
          </p:cNvPr>
          <p:cNvSpPr/>
          <p:nvPr/>
        </p:nvSpPr>
        <p:spPr>
          <a:xfrm>
            <a:off x="2011680" y="2157984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10-20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27E7EFB-AA98-5B35-B5AC-BEBF04A37290}"/>
              </a:ext>
            </a:extLst>
          </p:cNvPr>
          <p:cNvSpPr/>
          <p:nvPr/>
        </p:nvSpPr>
        <p:spPr>
          <a:xfrm>
            <a:off x="365760" y="2578608"/>
            <a:ext cx="3657600" cy="402336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158C8E6-402B-12E8-DA63-9F765FA9481C}"/>
              </a:ext>
            </a:extLst>
          </p:cNvPr>
          <p:cNvSpPr/>
          <p:nvPr/>
        </p:nvSpPr>
        <p:spPr>
          <a:xfrm>
            <a:off x="457200" y="2578608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36C2CB8-F9C0-4296-0BD8-23F91DD76CC0}"/>
              </a:ext>
            </a:extLst>
          </p:cNvPr>
          <p:cNvSpPr/>
          <p:nvPr/>
        </p:nvSpPr>
        <p:spPr>
          <a:xfrm>
            <a:off x="2011680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Hz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EAF292A-252B-8127-7983-F42840D4EA31}"/>
              </a:ext>
            </a:extLst>
          </p:cNvPr>
          <p:cNvSpPr/>
          <p:nvPr/>
        </p:nvSpPr>
        <p:spPr>
          <a:xfrm>
            <a:off x="365760" y="2999232"/>
            <a:ext cx="36576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882807C-2673-9B24-9BBC-8541C27191E8}"/>
              </a:ext>
            </a:extLst>
          </p:cNvPr>
          <p:cNvSpPr/>
          <p:nvPr/>
        </p:nvSpPr>
        <p:spPr>
          <a:xfrm>
            <a:off x="457200" y="2999232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Grup1 — Gheata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2F3723E-B9C9-8A8C-7F6A-20092777BC43}"/>
              </a:ext>
            </a:extLst>
          </p:cNvPr>
          <p:cNvSpPr/>
          <p:nvPr/>
        </p:nvSpPr>
        <p:spPr>
          <a:xfrm>
            <a:off x="2011680" y="2999232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</a:t>
            </a:r>
            <a:r>
              <a:rPr lang="en-US" sz="1000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persoane</a:t>
            </a: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~169 sec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CD29771-8DA9-40D7-37D3-504640F579BC}"/>
              </a:ext>
            </a:extLst>
          </p:cNvPr>
          <p:cNvSpPr/>
          <p:nvPr/>
        </p:nvSpPr>
        <p:spPr>
          <a:xfrm>
            <a:off x="365760" y="3419856"/>
            <a:ext cx="3657600" cy="402336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0B3B391-8784-E6A4-D4B5-F57192C40F1F}"/>
              </a:ext>
            </a:extLst>
          </p:cNvPr>
          <p:cNvSpPr/>
          <p:nvPr/>
        </p:nvSpPr>
        <p:spPr>
          <a:xfrm>
            <a:off x="457200" y="3419856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Grup2 — Ascutit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0076132-89B1-98D5-F627-0461459B138F}"/>
              </a:ext>
            </a:extLst>
          </p:cNvPr>
          <p:cNvSpPr/>
          <p:nvPr/>
        </p:nvSpPr>
        <p:spPr>
          <a:xfrm>
            <a:off x="2011680" y="3419856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</a:t>
            </a:r>
            <a:r>
              <a:rPr lang="en-US" sz="1000" dirty="0" err="1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persoane</a:t>
            </a: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~11.7 sec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DD8EEE5-C0CA-EB13-9CD7-3C255A131989}"/>
              </a:ext>
            </a:extLst>
          </p:cNvPr>
          <p:cNvSpPr/>
          <p:nvPr/>
        </p:nvSpPr>
        <p:spPr>
          <a:xfrm>
            <a:off x="365760" y="3840480"/>
            <a:ext cx="365760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4D133F3-1BE5-D11E-FD8B-2F0041DBCFC8}"/>
              </a:ext>
            </a:extLst>
          </p:cNvPr>
          <p:cNvSpPr/>
          <p:nvPr/>
        </p:nvSpPr>
        <p:spPr>
          <a:xfrm>
            <a:off x="457200" y="3840480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date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E7D2858-73F0-A0F7-3136-AE43E29EF77B}"/>
              </a:ext>
            </a:extLst>
          </p:cNvPr>
          <p:cNvSpPr/>
          <p:nvPr/>
        </p:nvSpPr>
        <p:spPr>
          <a:xfrm>
            <a:off x="2011680" y="3840480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EEGLAB .set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C347284-4FB1-C89D-B2C0-78264EC8DBA1}"/>
              </a:ext>
            </a:extLst>
          </p:cNvPr>
          <p:cNvSpPr/>
          <p:nvPr/>
        </p:nvSpPr>
        <p:spPr>
          <a:xfrm>
            <a:off x="365760" y="4261104"/>
            <a:ext cx="3657600" cy="402336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F873F03-74EC-2044-3923-0B48E1974E65}"/>
              </a:ext>
            </a:extLst>
          </p:cNvPr>
          <p:cNvSpPr/>
          <p:nvPr/>
        </p:nvSpPr>
        <p:spPr>
          <a:xfrm>
            <a:off x="457200" y="4261104"/>
            <a:ext cx="15544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29FDB88-2A65-548E-437F-A9679DFAA629}"/>
              </a:ext>
            </a:extLst>
          </p:cNvPr>
          <p:cNvSpPr/>
          <p:nvPr/>
        </p:nvSpPr>
        <p:spPr>
          <a:xfrm>
            <a:off x="2011680" y="4261104"/>
            <a:ext cx="1828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+ EEGLAB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FBB4714-2325-562F-55EA-81532A21AF8B}"/>
              </a:ext>
            </a:extLst>
          </p:cNvPr>
          <p:cNvSpPr/>
          <p:nvPr/>
        </p:nvSpPr>
        <p:spPr>
          <a:xfrm>
            <a:off x="4251960" y="868680"/>
            <a:ext cx="45720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FC455F3-5798-9AA3-57E1-E1231F5D15A9}"/>
              </a:ext>
            </a:extLst>
          </p:cNvPr>
          <p:cNvSpPr/>
          <p:nvPr/>
        </p:nvSpPr>
        <p:spPr>
          <a:xfrm>
            <a:off x="4251960" y="868680"/>
            <a:ext cx="45720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7C6A442-6EDB-B2C6-AF40-08B34F7AE274}"/>
              </a:ext>
            </a:extLst>
          </p:cNvPr>
          <p:cNvSpPr/>
          <p:nvPr/>
        </p:nvSpPr>
        <p:spPr>
          <a:xfrm>
            <a:off x="425196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Harta Electrozilor — MATLAB (Fig. 2)</a:t>
            </a:r>
            <a:endParaRPr lang="en-US" sz="1200" dirty="0"/>
          </a:p>
        </p:txBody>
      </p:sp>
      <p:pic>
        <p:nvPicPr>
          <p:cNvPr id="36" name="Image 0">
            <a:extLst>
              <a:ext uri="{FF2B5EF4-FFF2-40B4-BE49-F238E27FC236}">
                <a16:creationId xmlns:a16="http://schemas.microsoft.com/office/drawing/2014/main" id="{45D76A48-8845-AA71-36BE-4ED1805B1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0" y="1298448"/>
            <a:ext cx="3931920" cy="333756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0FABE1B-C877-7F44-3E4C-F4FBC07A1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79" y="85700"/>
            <a:ext cx="2598821" cy="165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9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Preprocesare EEG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2208" y="1158239"/>
            <a:ext cx="2925312" cy="2649271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34340" y="1295400"/>
            <a:ext cx="502920" cy="5029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4340" y="1295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1322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1 Hz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" y="1889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8010" y="1158239"/>
            <a:ext cx="2838450" cy="2649271"/>
          </a:xfrm>
          <a:prstGeom prst="rect">
            <a:avLst/>
          </a:prstGeom>
          <a:solidFill>
            <a:srgbClr val="FFFFFF"/>
          </a:solidFill>
          <a:ln w="25400">
            <a:solidFill>
              <a:srgbClr val="023E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60420" y="1295400"/>
            <a:ext cx="502920" cy="502920"/>
          </a:xfrm>
          <a:prstGeom prst="ellipse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0420" y="1295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54780" y="1322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40 Hz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4700" y="1889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8870" y="1112520"/>
            <a:ext cx="2693670" cy="269499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86500" y="1295400"/>
            <a:ext cx="502920" cy="5029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6500" y="1295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80860" y="1322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50 Hz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0780" y="1889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52733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403611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03611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06354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Curățare Spike-uri ASR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" y="40157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4700" y="394716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48CAE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51860" y="4084320"/>
            <a:ext cx="502920" cy="50292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1860" y="408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46220" y="41117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Re-referențiere AVG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4700" y="40157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947160"/>
            <a:ext cx="26517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90E0E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4084320"/>
            <a:ext cx="502920" cy="50292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408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95160" y="41041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la nivel STUDY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40780" y="40157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56D9453-DFD6-887D-2CB4-8F52B0303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38" y="2013992"/>
            <a:ext cx="2752452" cy="162107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68F335-BAA9-5D7D-9C3E-9837B74D2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911" y="1993154"/>
            <a:ext cx="2725285" cy="164191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4B0C463-4B6B-A1E7-684F-315C2CB39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06550"/>
            <a:ext cx="2583180" cy="1587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39D24-4E3A-2A81-1EC1-CC0DAF75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9C03EE-72E1-EECF-3AED-0FABD156BD69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Preprocesare EEG</a:t>
            </a:r>
            <a:endParaRPr lang="en-US" sz="2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4010FAD-CEE1-1290-5B0D-BB8388B5A7FA}"/>
              </a:ext>
            </a:extLst>
          </p:cNvPr>
          <p:cNvSpPr/>
          <p:nvPr/>
        </p:nvSpPr>
        <p:spPr>
          <a:xfrm>
            <a:off x="1181100" y="1403431"/>
            <a:ext cx="7254240" cy="2671918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C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31015D2-1021-A51A-D87E-243D38E6F205}"/>
              </a:ext>
            </a:extLst>
          </p:cNvPr>
          <p:cNvSpPr/>
          <p:nvPr/>
        </p:nvSpPr>
        <p:spPr>
          <a:xfrm>
            <a:off x="277834" y="739140"/>
            <a:ext cx="1436666" cy="13792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F509E96-5A0C-7B7D-185D-B4D10C7BFE07}"/>
              </a:ext>
            </a:extLst>
          </p:cNvPr>
          <p:cNvSpPr/>
          <p:nvPr/>
        </p:nvSpPr>
        <p:spPr>
          <a:xfrm>
            <a:off x="6286500" y="1295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2D6A60A-C966-E600-6C5A-CE955A0E742D}"/>
              </a:ext>
            </a:extLst>
          </p:cNvPr>
          <p:cNvSpPr/>
          <p:nvPr/>
        </p:nvSpPr>
        <p:spPr>
          <a:xfrm>
            <a:off x="6880860" y="13228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2740258-43F7-6EC2-6040-0E62208EF707}"/>
              </a:ext>
            </a:extLst>
          </p:cNvPr>
          <p:cNvSpPr/>
          <p:nvPr/>
        </p:nvSpPr>
        <p:spPr>
          <a:xfrm>
            <a:off x="6057900" y="1264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74E9A83-B52E-A69E-9603-DC73D5C65EF1}"/>
              </a:ext>
            </a:extLst>
          </p:cNvPr>
          <p:cNvSpPr/>
          <p:nvPr/>
        </p:nvSpPr>
        <p:spPr>
          <a:xfrm>
            <a:off x="388620" y="40157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CFD10BF-9DB1-FC8A-DD65-DF934A18DBBD}"/>
              </a:ext>
            </a:extLst>
          </p:cNvPr>
          <p:cNvSpPr/>
          <p:nvPr/>
        </p:nvSpPr>
        <p:spPr>
          <a:xfrm>
            <a:off x="3131820" y="33909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00C7EA-D45A-BCE8-399B-82DC7CFAA593}"/>
              </a:ext>
            </a:extLst>
          </p:cNvPr>
          <p:cNvSpPr txBox="1"/>
          <p:nvPr/>
        </p:nvSpPr>
        <p:spPr>
          <a:xfrm>
            <a:off x="1811359" y="904754"/>
            <a:ext cx="4320500" cy="369332"/>
          </a:xfrm>
          <a:prstGeom prst="rect">
            <a:avLst/>
          </a:prstGeom>
          <a:gradFill>
            <a:gsLst>
              <a:gs pos="10000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</p:spPr>
        <p:txBody>
          <a:bodyPr wrap="square" rtlCol="0">
            <a:spAutoFit/>
          </a:bodyPr>
          <a:lstStyle/>
          <a:p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preprocesarii</a:t>
            </a:r>
            <a:r>
              <a:rPr lang="en-US" dirty="0"/>
              <a:t>(Gheata vs </a:t>
            </a:r>
            <a:r>
              <a:rPr lang="en-US" dirty="0" err="1"/>
              <a:t>Ascutit</a:t>
            </a:r>
            <a:r>
              <a:rPr lang="en-US" dirty="0"/>
              <a:t>)</a:t>
            </a: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8DEB194C-0277-0C1A-528D-B3966162A615}"/>
              </a:ext>
            </a:extLst>
          </p:cNvPr>
          <p:cNvSpPr/>
          <p:nvPr/>
        </p:nvSpPr>
        <p:spPr>
          <a:xfrm>
            <a:off x="7707334" y="3390900"/>
            <a:ext cx="1436666" cy="137922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89A2E7D-7F4F-46FA-5586-86D7D053F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830" y="1514073"/>
            <a:ext cx="7026232" cy="24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3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A56200-DC25-834C-D371-1D56D6958389}"/>
              </a:ext>
            </a:extLst>
          </p:cNvPr>
          <p:cNvSpPr/>
          <p:nvPr/>
        </p:nvSpPr>
        <p:spPr>
          <a:xfrm>
            <a:off x="152400" y="152400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4E96A3-8E93-2C1C-EC1F-2659EF056161}"/>
              </a:ext>
            </a:extLst>
          </p:cNvPr>
          <p:cNvSpPr/>
          <p:nvPr/>
        </p:nvSpPr>
        <p:spPr>
          <a:xfrm>
            <a:off x="609600" y="289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— Eliminarea Artefactelor Biologice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1B5A4F-A8E4-907D-453E-EDDC53270C41}"/>
              </a:ext>
            </a:extLst>
          </p:cNvPr>
          <p:cNvSpPr/>
          <p:nvPr/>
        </p:nvSpPr>
        <p:spPr>
          <a:xfrm>
            <a:off x="609600" y="838200"/>
            <a:ext cx="18288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667C13-16D5-BE61-4E6F-D9EC0849C1C0}"/>
              </a:ext>
            </a:extLst>
          </p:cNvPr>
          <p:cNvSpPr/>
          <p:nvPr/>
        </p:nvSpPr>
        <p:spPr>
          <a:xfrm>
            <a:off x="152400" y="5222748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1E4C9E-C6EF-993B-8CA6-E726E2F09B91}"/>
              </a:ext>
            </a:extLst>
          </p:cNvPr>
          <p:cNvSpPr/>
          <p:nvPr/>
        </p:nvSpPr>
        <p:spPr>
          <a:xfrm>
            <a:off x="518160" y="993648"/>
            <a:ext cx="502920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5C967E-C84E-1FAA-A19C-53FA54B86CC1}"/>
              </a:ext>
            </a:extLst>
          </p:cNvPr>
          <p:cNvSpPr/>
          <p:nvPr/>
        </p:nvSpPr>
        <p:spPr>
          <a:xfrm>
            <a:off x="518160" y="993648"/>
            <a:ext cx="50292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BF354FA-3F76-8C34-4728-9F9B03A288F3}"/>
              </a:ext>
            </a:extLst>
          </p:cNvPr>
          <p:cNvSpPr/>
          <p:nvPr/>
        </p:nvSpPr>
        <p:spPr>
          <a:xfrm>
            <a:off x="518160" y="9936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Harti Topografice ICA (MATLAB)</a:t>
            </a:r>
            <a:endParaRPr lang="en-US" sz="1050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2D2A96DD-83E2-C704-4191-47E2D2E8D5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3877" y="1511359"/>
            <a:ext cx="4588393" cy="3335409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4D04A6D2-1C6D-27C3-76FB-1E57CB547A71}"/>
              </a:ext>
            </a:extLst>
          </p:cNvPr>
          <p:cNvSpPr/>
          <p:nvPr/>
        </p:nvSpPr>
        <p:spPr>
          <a:xfrm>
            <a:off x="5775960" y="1066800"/>
            <a:ext cx="32004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76D7E69-3533-1308-CF9A-05EF50C47998}"/>
              </a:ext>
            </a:extLst>
          </p:cNvPr>
          <p:cNvSpPr/>
          <p:nvPr/>
        </p:nvSpPr>
        <p:spPr>
          <a:xfrm>
            <a:off x="5775960" y="1066800"/>
            <a:ext cx="54864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1587077-D9AA-B97D-B45D-2BBCF6D74CDB}"/>
              </a:ext>
            </a:extLst>
          </p:cNvPr>
          <p:cNvSpPr/>
          <p:nvPr/>
        </p:nvSpPr>
        <p:spPr>
          <a:xfrm>
            <a:off x="5885688" y="1139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IC1, IC3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E3442DB-57F9-EB78-0C7D-B79594AE0611}"/>
              </a:ext>
            </a:extLst>
          </p:cNvPr>
          <p:cNvSpPr/>
          <p:nvPr/>
        </p:nvSpPr>
        <p:spPr>
          <a:xfrm>
            <a:off x="5885688" y="1395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Artefacte Oculare (EOG)</a:t>
            </a:r>
            <a:endParaRPr lang="en-US" sz="10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C9769ED-8FA7-57BF-9EB1-B95A8438A4C6}"/>
              </a:ext>
            </a:extLst>
          </p:cNvPr>
          <p:cNvSpPr/>
          <p:nvPr/>
        </p:nvSpPr>
        <p:spPr>
          <a:xfrm>
            <a:off x="5885688" y="1661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Amplitudine mare localizata frontal (Fp1, Fp2) — clipit + miscari oculare</a:t>
            </a:r>
            <a:endParaRPr lang="en-US" sz="9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335A431-C590-EE25-1216-EEE4368393A7}"/>
              </a:ext>
            </a:extLst>
          </p:cNvPr>
          <p:cNvSpPr/>
          <p:nvPr/>
        </p:nvSpPr>
        <p:spPr>
          <a:xfrm>
            <a:off x="5775960" y="2328672"/>
            <a:ext cx="32004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0DE4333-8DF1-B445-BFE4-DBFB9C8694EF}"/>
              </a:ext>
            </a:extLst>
          </p:cNvPr>
          <p:cNvSpPr/>
          <p:nvPr/>
        </p:nvSpPr>
        <p:spPr>
          <a:xfrm>
            <a:off x="5775960" y="2328672"/>
            <a:ext cx="54864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CF806D4-00B7-DAF7-CED7-D08F08A50413}"/>
              </a:ext>
            </a:extLst>
          </p:cNvPr>
          <p:cNvSpPr/>
          <p:nvPr/>
        </p:nvSpPr>
        <p:spPr>
          <a:xfrm>
            <a:off x="5885688" y="2401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</a:t>
            </a: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4F7BCD5-384D-3012-78D0-EFCDFF5D4DBC}"/>
              </a:ext>
            </a:extLst>
          </p:cNvPr>
          <p:cNvSpPr/>
          <p:nvPr/>
        </p:nvSpPr>
        <p:spPr>
          <a:xfrm>
            <a:off x="5885688" y="2657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Activitate Cerebrala Valida</a:t>
            </a:r>
            <a:endParaRPr lang="en-US" sz="10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757D95D-D8FC-AD27-60BD-1EAA3D56D4F6}"/>
              </a:ext>
            </a:extLst>
          </p:cNvPr>
          <p:cNvSpPr/>
          <p:nvPr/>
        </p:nvSpPr>
        <p:spPr>
          <a:xfrm>
            <a:off x="5885688" y="2923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Distributie centrala echilibrata — sursa neurofiziologica autentica de interes</a:t>
            </a:r>
            <a:endParaRPr lang="en-US" sz="95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E493791-D000-D9D6-6C89-ABC0E5377372}"/>
              </a:ext>
            </a:extLst>
          </p:cNvPr>
          <p:cNvSpPr/>
          <p:nvPr/>
        </p:nvSpPr>
        <p:spPr>
          <a:xfrm>
            <a:off x="5775960" y="3590544"/>
            <a:ext cx="32004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48541B2-2C6D-6F60-B287-8F0898DE7C06}"/>
              </a:ext>
            </a:extLst>
          </p:cNvPr>
          <p:cNvSpPr/>
          <p:nvPr/>
        </p:nvSpPr>
        <p:spPr>
          <a:xfrm>
            <a:off x="5775960" y="3590544"/>
            <a:ext cx="54864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4CF488D-4D7A-8069-802F-2EFE1DEDAB9E}"/>
              </a:ext>
            </a:extLst>
          </p:cNvPr>
          <p:cNvSpPr/>
          <p:nvPr/>
        </p:nvSpPr>
        <p:spPr>
          <a:xfrm>
            <a:off x="5885688" y="3663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IC11</a:t>
            </a:r>
            <a:endParaRPr lang="en-US" sz="1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12B0C18-AC01-7FA9-2479-CF96869E640C}"/>
              </a:ext>
            </a:extLst>
          </p:cNvPr>
          <p:cNvSpPr/>
          <p:nvPr/>
        </p:nvSpPr>
        <p:spPr>
          <a:xfrm>
            <a:off x="5885688" y="3919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Zgomot Muscular / Electrod</a:t>
            </a:r>
            <a:endParaRPr lang="en-US" sz="10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6F283BF-025C-9029-4C60-F33CD92C1C79}"/>
              </a:ext>
            </a:extLst>
          </p:cNvPr>
          <p:cNvSpPr/>
          <p:nvPr/>
        </p:nvSpPr>
        <p:spPr>
          <a:xfrm>
            <a:off x="5885688" y="4184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Activitate focalizata la marginea scalpului — EMG sau contact slab</a:t>
            </a:r>
            <a:endParaRPr lang="en-US" sz="9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98645F2-5698-02B8-E18D-CF2BD26F9C94}"/>
              </a:ext>
            </a:extLst>
          </p:cNvPr>
          <p:cNvSpPr/>
          <p:nvPr/>
        </p:nvSpPr>
        <p:spPr>
          <a:xfrm>
            <a:off x="5775960" y="483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88152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1">
            <a:extLst>
              <a:ext uri="{FF2B5EF4-FFF2-40B4-BE49-F238E27FC236}">
                <a16:creationId xmlns:a16="http://schemas.microsoft.com/office/drawing/2014/main" id="{5E496F83-F8BA-7144-DC4B-49EDD030531F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Benzile</a:t>
            </a: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Frecvență EEG</a:t>
            </a:r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DF89E2A2-9FF9-840C-E283-55FB5BA4CF59}"/>
              </a:ext>
            </a:extLst>
          </p:cNvPr>
          <p:cNvSpPr/>
          <p:nvPr/>
        </p:nvSpPr>
        <p:spPr>
          <a:xfrm>
            <a:off x="320040" y="777240"/>
            <a:ext cx="228600" cy="713232"/>
          </a:xfrm>
          <a:prstGeom prst="rect">
            <a:avLst/>
          </a:prstGeom>
          <a:solidFill>
            <a:schemeClr val="tx1"/>
          </a:solidFill>
          <a:ln w="12700">
            <a:solidFill>
              <a:srgbClr val="740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1FF675C5-AB8B-7B65-238D-7823FAC60611}"/>
              </a:ext>
            </a:extLst>
          </p:cNvPr>
          <p:cNvSpPr/>
          <p:nvPr/>
        </p:nvSpPr>
        <p:spPr>
          <a:xfrm>
            <a:off x="566928" y="777240"/>
            <a:ext cx="8229600" cy="713232"/>
          </a:xfrm>
          <a:prstGeom prst="rect">
            <a:avLst/>
          </a:prstGeom>
          <a:solidFill>
            <a:srgbClr val="C00000">
              <a:alpha val="85000"/>
            </a:srgbClr>
          </a:solidFill>
          <a:ln w="6350">
            <a:solidFill>
              <a:srgbClr val="740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F247BC6B-3509-8904-8792-45D157DFF058}"/>
              </a:ext>
            </a:extLst>
          </p:cNvPr>
          <p:cNvSpPr/>
          <p:nvPr/>
        </p:nvSpPr>
        <p:spPr>
          <a:xfrm>
            <a:off x="658368" y="8503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6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0D0A5103-EC21-71E8-39CD-670FA33CB0A6}"/>
              </a:ext>
            </a:extLst>
          </p:cNvPr>
          <p:cNvSpPr/>
          <p:nvPr/>
        </p:nvSpPr>
        <p:spPr>
          <a:xfrm>
            <a:off x="658368" y="11887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4 Hz</a:t>
            </a:r>
            <a:endParaRPr lang="en-US" sz="1000" dirty="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557217FD-B0BC-FA69-25A6-B6A4ADF6AE46}"/>
              </a:ext>
            </a:extLst>
          </p:cNvPr>
          <p:cNvSpPr/>
          <p:nvPr/>
        </p:nvSpPr>
        <p:spPr>
          <a:xfrm>
            <a:off x="2103120" y="941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Somn profund, amplitudine mare</a:t>
            </a:r>
            <a:endParaRPr lang="en-US" sz="120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D21C3302-AC7A-22CA-3F69-9D9B7D35FD6A}"/>
              </a:ext>
            </a:extLst>
          </p:cNvPr>
          <p:cNvSpPr/>
          <p:nvPr/>
        </p:nvSpPr>
        <p:spPr>
          <a:xfrm>
            <a:off x="6675120" y="886968"/>
            <a:ext cx="2011680" cy="493776"/>
          </a:xfrm>
          <a:prstGeom prst="rect">
            <a:avLst/>
          </a:prstGeom>
          <a:solidFill>
            <a:schemeClr val="tx1">
              <a:alpha val="40000"/>
            </a:schemeClr>
          </a:solidFill>
          <a:ln w="12700">
            <a:solidFill>
              <a:srgbClr val="740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1CF0F5AF-4988-C75E-9761-FF2966A0A696}"/>
              </a:ext>
            </a:extLst>
          </p:cNvPr>
          <p:cNvSpPr/>
          <p:nvPr/>
        </p:nvSpPr>
        <p:spPr>
          <a:xfrm>
            <a:off x="667512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la diabetici</a:t>
            </a:r>
            <a:endParaRPr lang="en-US" sz="110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3D81D377-F5AB-C3C7-B02E-C4756F1B6634}"/>
              </a:ext>
            </a:extLst>
          </p:cNvPr>
          <p:cNvSpPr/>
          <p:nvPr/>
        </p:nvSpPr>
        <p:spPr>
          <a:xfrm>
            <a:off x="320040" y="1618488"/>
            <a:ext cx="228600" cy="713232"/>
          </a:xfrm>
          <a:prstGeom prst="rect">
            <a:avLst/>
          </a:prstGeom>
          <a:solidFill>
            <a:schemeClr val="tx1"/>
          </a:solidFill>
          <a:ln w="1270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6FC24262-F5E8-A204-B2FC-055FE0680CF1}"/>
              </a:ext>
            </a:extLst>
          </p:cNvPr>
          <p:cNvSpPr/>
          <p:nvPr/>
        </p:nvSpPr>
        <p:spPr>
          <a:xfrm>
            <a:off x="566928" y="1618488"/>
            <a:ext cx="8229600" cy="713232"/>
          </a:xfrm>
          <a:prstGeom prst="rect">
            <a:avLst/>
          </a:prstGeom>
          <a:solidFill>
            <a:schemeClr val="accent2">
              <a:lumMod val="75000"/>
              <a:alpha val="85000"/>
            </a:schemeClr>
          </a:solidFill>
          <a:ln w="635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BC91109B-64E5-2053-60F0-E0131AB389AD}"/>
              </a:ext>
            </a:extLst>
          </p:cNvPr>
          <p:cNvSpPr/>
          <p:nvPr/>
        </p:nvSpPr>
        <p:spPr>
          <a:xfrm>
            <a:off x="658368" y="1691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6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9DCF279B-073E-6345-D7C4-09EA11348AE6}"/>
              </a:ext>
            </a:extLst>
          </p:cNvPr>
          <p:cNvSpPr/>
          <p:nvPr/>
        </p:nvSpPr>
        <p:spPr>
          <a:xfrm>
            <a:off x="658368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Hz</a:t>
            </a:r>
            <a:endParaRPr lang="en-US" sz="10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FC3359A0-0C0F-9FB3-A464-D275D1167D47}"/>
              </a:ext>
            </a:extLst>
          </p:cNvPr>
          <p:cNvSpPr/>
          <p:nvPr/>
        </p:nvSpPr>
        <p:spPr>
          <a:xfrm>
            <a:off x="210312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Emoții, stări mentale profunde</a:t>
            </a:r>
            <a:endParaRPr lang="en-US" sz="120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7DA34379-579D-0A19-4F67-3878F65CA796}"/>
              </a:ext>
            </a:extLst>
          </p:cNvPr>
          <p:cNvSpPr/>
          <p:nvPr/>
        </p:nvSpPr>
        <p:spPr>
          <a:xfrm>
            <a:off x="6675120" y="1728216"/>
            <a:ext cx="2011680" cy="493776"/>
          </a:xfrm>
          <a:prstGeom prst="rect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1270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BF509E4E-D92A-4572-56CA-330A9D4ECC6B}"/>
              </a:ext>
            </a:extLst>
          </p:cNvPr>
          <p:cNvSpPr/>
          <p:nvPr/>
        </p:nvSpPr>
        <p:spPr>
          <a:xfrm>
            <a:off x="6675120" y="1728216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cognitiv</a:t>
            </a:r>
            <a:endParaRPr lang="en-US" sz="1100" dirty="0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1B3351E9-5B34-849B-79EB-AC9507E6225F}"/>
              </a:ext>
            </a:extLst>
          </p:cNvPr>
          <p:cNvSpPr/>
          <p:nvPr/>
        </p:nvSpPr>
        <p:spPr>
          <a:xfrm>
            <a:off x="320040" y="2459736"/>
            <a:ext cx="228600" cy="7132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5E6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A274B09D-1D4F-BB10-76FC-5B5EED5F08E3}"/>
              </a:ext>
            </a:extLst>
          </p:cNvPr>
          <p:cNvSpPr/>
          <p:nvPr/>
        </p:nvSpPr>
        <p:spPr>
          <a:xfrm>
            <a:off x="566928" y="2463732"/>
            <a:ext cx="8229600" cy="713232"/>
          </a:xfrm>
          <a:prstGeom prst="rect">
            <a:avLst/>
          </a:prstGeom>
          <a:solidFill>
            <a:schemeClr val="accent6">
              <a:lumMod val="75000"/>
              <a:alpha val="85000"/>
            </a:schemeClr>
          </a:solidFill>
          <a:ln w="6350">
            <a:solidFill>
              <a:srgbClr val="5E6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E855133C-0C41-5779-3359-46BD41B20CA4}"/>
              </a:ext>
            </a:extLst>
          </p:cNvPr>
          <p:cNvSpPr/>
          <p:nvPr/>
        </p:nvSpPr>
        <p:spPr>
          <a:xfrm>
            <a:off x="658368" y="2532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6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F6FAB064-0209-BC51-A9BF-64D0CE5BE3BA}"/>
              </a:ext>
            </a:extLst>
          </p:cNvPr>
          <p:cNvSpPr/>
          <p:nvPr/>
        </p:nvSpPr>
        <p:spPr>
          <a:xfrm>
            <a:off x="658368" y="28712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13 Hz</a:t>
            </a:r>
            <a:endParaRPr lang="en-US" sz="1000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B7C387B3-8B45-CD03-49CC-11953F46FA04}"/>
              </a:ext>
            </a:extLst>
          </p:cNvPr>
          <p:cNvSpPr/>
          <p:nvPr/>
        </p:nvSpPr>
        <p:spPr>
          <a:xfrm>
            <a:off x="2103120" y="26243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Veghe relaxată, ochi închiși</a:t>
            </a:r>
            <a:endParaRPr lang="en-US" sz="1200" dirty="0"/>
          </a:p>
        </p:txBody>
      </p:sp>
      <p:sp>
        <p:nvSpPr>
          <p:cNvPr id="61" name="Shape 21">
            <a:extLst>
              <a:ext uri="{FF2B5EF4-FFF2-40B4-BE49-F238E27FC236}">
                <a16:creationId xmlns:a16="http://schemas.microsoft.com/office/drawing/2014/main" id="{C36BFA48-A9D5-DD23-EB07-5ADE62AC8CE1}"/>
              </a:ext>
            </a:extLst>
          </p:cNvPr>
          <p:cNvSpPr/>
          <p:nvPr/>
        </p:nvSpPr>
        <p:spPr>
          <a:xfrm>
            <a:off x="6675120" y="2569464"/>
            <a:ext cx="2011680" cy="493776"/>
          </a:xfrm>
          <a:prstGeom prst="rect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 w="12700">
            <a:solidFill>
              <a:srgbClr val="5E6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875426B3-425E-6C26-B07A-D637CDBCB800}"/>
              </a:ext>
            </a:extLst>
          </p:cNvPr>
          <p:cNvSpPr/>
          <p:nvPr/>
        </p:nvSpPr>
        <p:spPr>
          <a:xfrm>
            <a:off x="6675120" y="25694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la diabetici</a:t>
            </a:r>
            <a:endParaRPr lang="en-US" sz="1100" dirty="0"/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154C894E-BF78-3E32-20D6-36845FF1374D}"/>
              </a:ext>
            </a:extLst>
          </p:cNvPr>
          <p:cNvSpPr/>
          <p:nvPr/>
        </p:nvSpPr>
        <p:spPr>
          <a:xfrm>
            <a:off x="320040" y="3300984"/>
            <a:ext cx="228600" cy="713232"/>
          </a:xfrm>
          <a:prstGeom prst="rect">
            <a:avLst/>
          </a:prstGeom>
          <a:solidFill>
            <a:schemeClr val="tx1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77A526B5-5E1C-DB31-30C7-72D11EB338D1}"/>
              </a:ext>
            </a:extLst>
          </p:cNvPr>
          <p:cNvSpPr/>
          <p:nvPr/>
        </p:nvSpPr>
        <p:spPr>
          <a:xfrm>
            <a:off x="566928" y="3300984"/>
            <a:ext cx="8229600" cy="713232"/>
          </a:xfrm>
          <a:prstGeom prst="rect">
            <a:avLst/>
          </a:prstGeom>
          <a:solidFill>
            <a:srgbClr val="1B2A4A">
              <a:alpha val="85000"/>
            </a:srgbClr>
          </a:solidFill>
          <a:ln w="635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079B3B48-B035-6F72-2E8F-AED270E6748F}"/>
              </a:ext>
            </a:extLst>
          </p:cNvPr>
          <p:cNvSpPr/>
          <p:nvPr/>
        </p:nvSpPr>
        <p:spPr>
          <a:xfrm>
            <a:off x="658368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600" dirty="0"/>
          </a:p>
        </p:txBody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96812D5E-E6C0-640F-EC96-62332B67B71B}"/>
              </a:ext>
            </a:extLst>
          </p:cNvPr>
          <p:cNvSpPr/>
          <p:nvPr/>
        </p:nvSpPr>
        <p:spPr>
          <a:xfrm>
            <a:off x="658368" y="37124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– 30 Hz</a:t>
            </a:r>
            <a:endParaRPr lang="en-US" sz="1000" dirty="0"/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0F449676-F585-DC2A-2214-98BBEC91D5AC}"/>
              </a:ext>
            </a:extLst>
          </p:cNvPr>
          <p:cNvSpPr/>
          <p:nvPr/>
        </p:nvSpPr>
        <p:spPr>
          <a:xfrm>
            <a:off x="2103120" y="34655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Concentrare, stres mental intens</a:t>
            </a:r>
            <a:endParaRPr lang="en-US" sz="1200" dirty="0"/>
          </a:p>
        </p:txBody>
      </p:sp>
      <p:sp>
        <p:nvSpPr>
          <p:cNvPr id="68" name="Shape 28">
            <a:extLst>
              <a:ext uri="{FF2B5EF4-FFF2-40B4-BE49-F238E27FC236}">
                <a16:creationId xmlns:a16="http://schemas.microsoft.com/office/drawing/2014/main" id="{27CC8660-A848-85B7-AB29-70A19ACC90E7}"/>
              </a:ext>
            </a:extLst>
          </p:cNvPr>
          <p:cNvSpPr/>
          <p:nvPr/>
        </p:nvSpPr>
        <p:spPr>
          <a:xfrm>
            <a:off x="6675120" y="3410712"/>
            <a:ext cx="2011680" cy="493776"/>
          </a:xfrm>
          <a:prstGeom prst="rect">
            <a:avLst/>
          </a:prstGeom>
          <a:solidFill>
            <a:srgbClr val="4EA8DE">
              <a:alpha val="40000"/>
            </a:srgbClr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13493516-435E-4C36-C5DC-1C026B82B8A7}"/>
              </a:ext>
            </a:extLst>
          </p:cNvPr>
          <p:cNvSpPr/>
          <p:nvPr/>
        </p:nvSpPr>
        <p:spPr>
          <a:xfrm>
            <a:off x="6675120" y="341071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la diabetici</a:t>
            </a:r>
            <a:endParaRPr lang="en-US" sz="1100" dirty="0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8B09677E-3470-8920-46EF-E9DFEECAABC5}"/>
              </a:ext>
            </a:extLst>
          </p:cNvPr>
          <p:cNvSpPr/>
          <p:nvPr/>
        </p:nvSpPr>
        <p:spPr>
          <a:xfrm>
            <a:off x="320040" y="4142232"/>
            <a:ext cx="228600" cy="7132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B63B2C40-010F-B345-1EC7-C6DF200AB95C}"/>
              </a:ext>
            </a:extLst>
          </p:cNvPr>
          <p:cNvSpPr/>
          <p:nvPr/>
        </p:nvSpPr>
        <p:spPr>
          <a:xfrm>
            <a:off x="566928" y="4142232"/>
            <a:ext cx="8229600" cy="713232"/>
          </a:xfrm>
          <a:prstGeom prst="rect">
            <a:avLst/>
          </a:prstGeom>
          <a:solidFill>
            <a:srgbClr val="7030A0">
              <a:alpha val="85000"/>
            </a:srgbClr>
          </a:solidFill>
          <a:ln w="63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D580A6CB-E985-05CB-7733-187681179A8F}"/>
              </a:ext>
            </a:extLst>
          </p:cNvPr>
          <p:cNvSpPr/>
          <p:nvPr/>
        </p:nvSpPr>
        <p:spPr>
          <a:xfrm>
            <a:off x="658368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600" dirty="0"/>
          </a:p>
        </p:txBody>
      </p:sp>
      <p:sp>
        <p:nvSpPr>
          <p:cNvPr id="73" name="Text 33">
            <a:extLst>
              <a:ext uri="{FF2B5EF4-FFF2-40B4-BE49-F238E27FC236}">
                <a16:creationId xmlns:a16="http://schemas.microsoft.com/office/drawing/2014/main" id="{B9DC536A-5F0D-1A64-5BAB-4114B1F764BF}"/>
              </a:ext>
            </a:extLst>
          </p:cNvPr>
          <p:cNvSpPr/>
          <p:nvPr/>
        </p:nvSpPr>
        <p:spPr>
          <a:xfrm>
            <a:off x="658368" y="45537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Hz</a:t>
            </a:r>
            <a:endParaRPr lang="en-US" sz="1000" dirty="0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5E8083B2-DB2E-6A3D-954D-BF55E90FAC90}"/>
              </a:ext>
            </a:extLst>
          </p:cNvPr>
          <p:cNvSpPr/>
          <p:nvPr/>
        </p:nvSpPr>
        <p:spPr>
          <a:xfrm>
            <a:off x="2103120" y="43068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Percepție senzorială, procesare cognitivă</a:t>
            </a:r>
            <a:endParaRPr lang="en-US" sz="1200" dirty="0"/>
          </a:p>
        </p:txBody>
      </p:sp>
      <p:sp>
        <p:nvSpPr>
          <p:cNvPr id="75" name="Shape 35">
            <a:extLst>
              <a:ext uri="{FF2B5EF4-FFF2-40B4-BE49-F238E27FC236}">
                <a16:creationId xmlns:a16="http://schemas.microsoft.com/office/drawing/2014/main" id="{84E63907-E7D8-EB09-95C9-7529C5750DEA}"/>
              </a:ext>
            </a:extLst>
          </p:cNvPr>
          <p:cNvSpPr/>
          <p:nvPr/>
        </p:nvSpPr>
        <p:spPr>
          <a:xfrm>
            <a:off x="6675120" y="4251960"/>
            <a:ext cx="2011680" cy="493776"/>
          </a:xfrm>
          <a:prstGeom prst="rect">
            <a:avLst/>
          </a:prstGeom>
          <a:solidFill>
            <a:schemeClr val="accent3">
              <a:lumMod val="40000"/>
              <a:lumOff val="60000"/>
              <a:alpha val="40000"/>
            </a:scheme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2314065B-AC1F-D013-2DD9-5AF9900572E9}"/>
              </a:ext>
            </a:extLst>
          </p:cNvPr>
          <p:cNvSpPr/>
          <p:nvPr/>
        </p:nvSpPr>
        <p:spPr>
          <a:xfrm>
            <a:off x="6675120" y="425196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vigilență</a:t>
            </a:r>
            <a:endParaRPr lang="en-US" sz="110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14F705CC-957A-77F3-1809-9CF7D4F22ACF}"/>
              </a:ext>
            </a:extLst>
          </p:cNvPr>
          <p:cNvSpPr/>
          <p:nvPr/>
        </p:nvSpPr>
        <p:spPr>
          <a:xfrm>
            <a:off x="32004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2DCDDF2-76C0-DCE8-A33C-71784B1E7185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Benzile</a:t>
            </a: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Frecvență EEG</a:t>
            </a:r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6CF9E22-57F3-F7FB-9590-5CEF042234CA}"/>
              </a:ext>
            </a:extLst>
          </p:cNvPr>
          <p:cNvSpPr/>
          <p:nvPr/>
        </p:nvSpPr>
        <p:spPr>
          <a:xfrm>
            <a:off x="320040" y="777240"/>
            <a:ext cx="228600" cy="713232"/>
          </a:xfrm>
          <a:prstGeom prst="rect">
            <a:avLst/>
          </a:prstGeom>
          <a:solidFill>
            <a:schemeClr val="tx1"/>
          </a:solidFill>
          <a:ln w="12700">
            <a:solidFill>
              <a:srgbClr val="740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E0C5F68-1634-B2F8-476E-3976C41BA2DC}"/>
              </a:ext>
            </a:extLst>
          </p:cNvPr>
          <p:cNvSpPr/>
          <p:nvPr/>
        </p:nvSpPr>
        <p:spPr>
          <a:xfrm>
            <a:off x="566928" y="777240"/>
            <a:ext cx="8229600" cy="713232"/>
          </a:xfrm>
          <a:prstGeom prst="rect">
            <a:avLst/>
          </a:prstGeom>
          <a:solidFill>
            <a:srgbClr val="C00000">
              <a:alpha val="85000"/>
            </a:srgbClr>
          </a:solidFill>
          <a:ln w="6350">
            <a:solidFill>
              <a:srgbClr val="740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93D67B3-3920-ACC4-0F3C-5C870DD98243}"/>
              </a:ext>
            </a:extLst>
          </p:cNvPr>
          <p:cNvSpPr/>
          <p:nvPr/>
        </p:nvSpPr>
        <p:spPr>
          <a:xfrm>
            <a:off x="658368" y="8503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7600746-2EE6-8059-01F9-7244FE616CE5}"/>
              </a:ext>
            </a:extLst>
          </p:cNvPr>
          <p:cNvSpPr/>
          <p:nvPr/>
        </p:nvSpPr>
        <p:spPr>
          <a:xfrm>
            <a:off x="658368" y="11887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4 Hz</a:t>
            </a:r>
            <a:endParaRPr lang="en-US" sz="1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A928C59-D084-14AC-DDC3-F0B161A7A914}"/>
              </a:ext>
            </a:extLst>
          </p:cNvPr>
          <p:cNvSpPr/>
          <p:nvPr/>
        </p:nvSpPr>
        <p:spPr>
          <a:xfrm>
            <a:off x="2103120" y="941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Somn profund, amplitudine mare</a:t>
            </a:r>
            <a:endParaRPr lang="en-US" sz="12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A42C6169-81D5-6347-6A80-25E246BBCC99}"/>
              </a:ext>
            </a:extLst>
          </p:cNvPr>
          <p:cNvSpPr/>
          <p:nvPr/>
        </p:nvSpPr>
        <p:spPr>
          <a:xfrm>
            <a:off x="6675120" y="886968"/>
            <a:ext cx="2011680" cy="493776"/>
          </a:xfrm>
          <a:prstGeom prst="rect">
            <a:avLst/>
          </a:prstGeom>
          <a:solidFill>
            <a:schemeClr val="tx1">
              <a:alpha val="40000"/>
            </a:schemeClr>
          </a:solidFill>
          <a:ln w="12700">
            <a:solidFill>
              <a:srgbClr val="740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4178420-3757-342C-C02B-D5EBC737FA7A}"/>
              </a:ext>
            </a:extLst>
          </p:cNvPr>
          <p:cNvSpPr/>
          <p:nvPr/>
        </p:nvSpPr>
        <p:spPr>
          <a:xfrm>
            <a:off x="6675120" y="886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la diabetici</a:t>
            </a:r>
            <a:endParaRPr lang="en-US" sz="11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20052E1-25D0-8555-5B05-F14807D008E7}"/>
              </a:ext>
            </a:extLst>
          </p:cNvPr>
          <p:cNvSpPr/>
          <p:nvPr/>
        </p:nvSpPr>
        <p:spPr>
          <a:xfrm>
            <a:off x="320040" y="1618488"/>
            <a:ext cx="228600" cy="713232"/>
          </a:xfrm>
          <a:prstGeom prst="rect">
            <a:avLst/>
          </a:prstGeom>
          <a:solidFill>
            <a:schemeClr val="tx1"/>
          </a:solidFill>
          <a:ln w="1270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CA0E02C4-B9A7-E0F7-BDF8-CF67FF4A1B0D}"/>
              </a:ext>
            </a:extLst>
          </p:cNvPr>
          <p:cNvSpPr/>
          <p:nvPr/>
        </p:nvSpPr>
        <p:spPr>
          <a:xfrm>
            <a:off x="566928" y="1618488"/>
            <a:ext cx="8229600" cy="713232"/>
          </a:xfrm>
          <a:prstGeom prst="rect">
            <a:avLst/>
          </a:prstGeom>
          <a:solidFill>
            <a:schemeClr val="accent2">
              <a:lumMod val="75000"/>
              <a:alpha val="85000"/>
            </a:schemeClr>
          </a:solidFill>
          <a:ln w="635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692D982-17E8-0189-40AC-2DA7C73B0125}"/>
              </a:ext>
            </a:extLst>
          </p:cNvPr>
          <p:cNvSpPr/>
          <p:nvPr/>
        </p:nvSpPr>
        <p:spPr>
          <a:xfrm>
            <a:off x="658368" y="1691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DA9ED4F-9289-40FF-D704-FF93E10BF732}"/>
              </a:ext>
            </a:extLst>
          </p:cNvPr>
          <p:cNvSpPr/>
          <p:nvPr/>
        </p:nvSpPr>
        <p:spPr>
          <a:xfrm>
            <a:off x="658368" y="20299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Hz</a:t>
            </a:r>
            <a:endParaRPr lang="en-US" sz="10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8EFB4AA-1157-880B-5ACB-ED2F50D429BC}"/>
              </a:ext>
            </a:extLst>
          </p:cNvPr>
          <p:cNvSpPr/>
          <p:nvPr/>
        </p:nvSpPr>
        <p:spPr>
          <a:xfrm>
            <a:off x="210312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Emoții, stări mentale profunde</a:t>
            </a:r>
            <a:endParaRPr lang="en-US" sz="12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ACAF9ADD-583C-17CE-6FC8-AB798EF7EA54}"/>
              </a:ext>
            </a:extLst>
          </p:cNvPr>
          <p:cNvSpPr/>
          <p:nvPr/>
        </p:nvSpPr>
        <p:spPr>
          <a:xfrm>
            <a:off x="6675120" y="1728216"/>
            <a:ext cx="2011680" cy="493776"/>
          </a:xfrm>
          <a:prstGeom prst="rect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 w="1270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12B679C-425A-E8EC-8393-BB7F1465C1B9}"/>
              </a:ext>
            </a:extLst>
          </p:cNvPr>
          <p:cNvSpPr/>
          <p:nvPr/>
        </p:nvSpPr>
        <p:spPr>
          <a:xfrm>
            <a:off x="6675120" y="1728216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cognitiv</a:t>
            </a:r>
            <a:endParaRPr lang="en-US" sz="11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11058CE1-C218-C82E-AE08-DBD05A32B84D}"/>
              </a:ext>
            </a:extLst>
          </p:cNvPr>
          <p:cNvSpPr/>
          <p:nvPr/>
        </p:nvSpPr>
        <p:spPr>
          <a:xfrm>
            <a:off x="320040" y="2459736"/>
            <a:ext cx="228600" cy="7132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5E6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9307B16-5824-A5DE-0C7B-353772BA3127}"/>
              </a:ext>
            </a:extLst>
          </p:cNvPr>
          <p:cNvSpPr/>
          <p:nvPr/>
        </p:nvSpPr>
        <p:spPr>
          <a:xfrm>
            <a:off x="566928" y="2463732"/>
            <a:ext cx="8229600" cy="713232"/>
          </a:xfrm>
          <a:prstGeom prst="rect">
            <a:avLst/>
          </a:prstGeom>
          <a:solidFill>
            <a:schemeClr val="accent6">
              <a:lumMod val="75000"/>
              <a:alpha val="85000"/>
            </a:schemeClr>
          </a:solidFill>
          <a:ln w="6350">
            <a:solidFill>
              <a:srgbClr val="5E6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8697A79B-1D8F-B26B-181A-771BBB53209A}"/>
              </a:ext>
            </a:extLst>
          </p:cNvPr>
          <p:cNvSpPr/>
          <p:nvPr/>
        </p:nvSpPr>
        <p:spPr>
          <a:xfrm>
            <a:off x="658368" y="25328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6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79CCBC89-DB94-172C-9519-8AC1AADB1F62}"/>
              </a:ext>
            </a:extLst>
          </p:cNvPr>
          <p:cNvSpPr/>
          <p:nvPr/>
        </p:nvSpPr>
        <p:spPr>
          <a:xfrm>
            <a:off x="658368" y="28712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13 Hz</a:t>
            </a:r>
            <a:endParaRPr lang="en-US" sz="10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9DB02413-BF26-56B4-4810-D4C673C84F67}"/>
              </a:ext>
            </a:extLst>
          </p:cNvPr>
          <p:cNvSpPr/>
          <p:nvPr/>
        </p:nvSpPr>
        <p:spPr>
          <a:xfrm>
            <a:off x="2103120" y="26243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Veghe relaxată, ochi închiși</a:t>
            </a:r>
            <a:endParaRPr lang="en-US" sz="120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EB4E60E0-A6F8-BAA3-C311-F8012B03D6F6}"/>
              </a:ext>
            </a:extLst>
          </p:cNvPr>
          <p:cNvSpPr/>
          <p:nvPr/>
        </p:nvSpPr>
        <p:spPr>
          <a:xfrm>
            <a:off x="6675120" y="2569464"/>
            <a:ext cx="2011680" cy="493776"/>
          </a:xfrm>
          <a:prstGeom prst="rect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 w="12700">
            <a:solidFill>
              <a:srgbClr val="5E6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20FB1210-2ECE-97B1-0374-0FD728F91744}"/>
              </a:ext>
            </a:extLst>
          </p:cNvPr>
          <p:cNvSpPr/>
          <p:nvPr/>
        </p:nvSpPr>
        <p:spPr>
          <a:xfrm>
            <a:off x="6675120" y="25694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la diabetici</a:t>
            </a:r>
            <a:endParaRPr lang="en-US" sz="11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2B7E5EBB-9555-24CE-356A-7930BC4CBD7B}"/>
              </a:ext>
            </a:extLst>
          </p:cNvPr>
          <p:cNvSpPr/>
          <p:nvPr/>
        </p:nvSpPr>
        <p:spPr>
          <a:xfrm>
            <a:off x="320040" y="3300984"/>
            <a:ext cx="228600" cy="713232"/>
          </a:xfrm>
          <a:prstGeom prst="rect">
            <a:avLst/>
          </a:prstGeom>
          <a:solidFill>
            <a:schemeClr val="tx1"/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4EA0C547-57EB-C837-765F-0B3EE4DD1DE2}"/>
              </a:ext>
            </a:extLst>
          </p:cNvPr>
          <p:cNvSpPr/>
          <p:nvPr/>
        </p:nvSpPr>
        <p:spPr>
          <a:xfrm>
            <a:off x="566928" y="3300984"/>
            <a:ext cx="8229600" cy="713232"/>
          </a:xfrm>
          <a:prstGeom prst="rect">
            <a:avLst/>
          </a:prstGeom>
          <a:solidFill>
            <a:srgbClr val="1B2A4A">
              <a:alpha val="85000"/>
            </a:srgbClr>
          </a:solidFill>
          <a:ln w="635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389B099-A5DF-749F-6C1F-612395029953}"/>
              </a:ext>
            </a:extLst>
          </p:cNvPr>
          <p:cNvSpPr/>
          <p:nvPr/>
        </p:nvSpPr>
        <p:spPr>
          <a:xfrm>
            <a:off x="658368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6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F065BCF4-58C5-2703-1FD4-73DB7B40926B}"/>
              </a:ext>
            </a:extLst>
          </p:cNvPr>
          <p:cNvSpPr/>
          <p:nvPr/>
        </p:nvSpPr>
        <p:spPr>
          <a:xfrm>
            <a:off x="658368" y="37124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– 30 Hz</a:t>
            </a:r>
            <a:endParaRPr lang="en-US" sz="100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67992E6E-E2C0-9CE1-A83D-5B0EE4BCD6E6}"/>
              </a:ext>
            </a:extLst>
          </p:cNvPr>
          <p:cNvSpPr/>
          <p:nvPr/>
        </p:nvSpPr>
        <p:spPr>
          <a:xfrm>
            <a:off x="2103120" y="34655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Concentrare, stres mental intens</a:t>
            </a:r>
            <a:endParaRPr lang="en-US" sz="12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10C59C77-C8D0-299A-924E-CC3335051FC1}"/>
              </a:ext>
            </a:extLst>
          </p:cNvPr>
          <p:cNvSpPr/>
          <p:nvPr/>
        </p:nvSpPr>
        <p:spPr>
          <a:xfrm>
            <a:off x="6675120" y="3410712"/>
            <a:ext cx="2011680" cy="493776"/>
          </a:xfrm>
          <a:prstGeom prst="rect">
            <a:avLst/>
          </a:prstGeom>
          <a:solidFill>
            <a:srgbClr val="4EA8DE">
              <a:alpha val="40000"/>
            </a:srgbClr>
          </a:solidFill>
          <a:ln w="12700">
            <a:solidFill>
              <a:srgbClr val="4EA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46D4665D-6CD5-5054-EF69-F32A408C55C7}"/>
              </a:ext>
            </a:extLst>
          </p:cNvPr>
          <p:cNvSpPr/>
          <p:nvPr/>
        </p:nvSpPr>
        <p:spPr>
          <a:xfrm>
            <a:off x="6675120" y="341071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la diabetici</a:t>
            </a:r>
            <a:endParaRPr lang="en-US" sz="11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A26B0710-78E9-6548-870C-00F444D6D524}"/>
              </a:ext>
            </a:extLst>
          </p:cNvPr>
          <p:cNvSpPr/>
          <p:nvPr/>
        </p:nvSpPr>
        <p:spPr>
          <a:xfrm>
            <a:off x="320040" y="4142232"/>
            <a:ext cx="228600" cy="7132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C51F3BCD-E16F-8BD5-9510-47FBB3578234}"/>
              </a:ext>
            </a:extLst>
          </p:cNvPr>
          <p:cNvSpPr/>
          <p:nvPr/>
        </p:nvSpPr>
        <p:spPr>
          <a:xfrm>
            <a:off x="566928" y="4142232"/>
            <a:ext cx="8229600" cy="713232"/>
          </a:xfrm>
          <a:prstGeom prst="rect">
            <a:avLst/>
          </a:prstGeom>
          <a:solidFill>
            <a:srgbClr val="7030A0">
              <a:alpha val="85000"/>
            </a:srgbClr>
          </a:solidFill>
          <a:ln w="63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60DF148B-FD29-6CA9-F8F7-389AC9648EE9}"/>
              </a:ext>
            </a:extLst>
          </p:cNvPr>
          <p:cNvSpPr/>
          <p:nvPr/>
        </p:nvSpPr>
        <p:spPr>
          <a:xfrm>
            <a:off x="658368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6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3AA5C374-595A-4F2F-36FF-DC9C45A517DF}"/>
              </a:ext>
            </a:extLst>
          </p:cNvPr>
          <p:cNvSpPr/>
          <p:nvPr/>
        </p:nvSpPr>
        <p:spPr>
          <a:xfrm>
            <a:off x="658368" y="45537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Hz</a:t>
            </a:r>
            <a:endParaRPr lang="en-US" sz="100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08C25B17-C330-B167-4398-FA848F8ED283}"/>
              </a:ext>
            </a:extLst>
          </p:cNvPr>
          <p:cNvSpPr/>
          <p:nvPr/>
        </p:nvSpPr>
        <p:spPr>
          <a:xfrm>
            <a:off x="2103120" y="43068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Percepție senzorială, procesare cognitivă</a:t>
            </a:r>
            <a:endParaRPr lang="en-US" sz="12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E5E8D23A-8CF2-EE8A-BADB-6C84E93ADD35}"/>
              </a:ext>
            </a:extLst>
          </p:cNvPr>
          <p:cNvSpPr/>
          <p:nvPr/>
        </p:nvSpPr>
        <p:spPr>
          <a:xfrm>
            <a:off x="6675120" y="4251960"/>
            <a:ext cx="2011680" cy="493776"/>
          </a:xfrm>
          <a:prstGeom prst="rect">
            <a:avLst/>
          </a:prstGeom>
          <a:solidFill>
            <a:schemeClr val="accent3">
              <a:lumMod val="40000"/>
              <a:lumOff val="60000"/>
              <a:alpha val="40000"/>
            </a:scheme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16C16355-D3D9-B6E2-56AB-7781555E7898}"/>
              </a:ext>
            </a:extLst>
          </p:cNvPr>
          <p:cNvSpPr/>
          <p:nvPr/>
        </p:nvSpPr>
        <p:spPr>
          <a:xfrm>
            <a:off x="6675120" y="425196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vigilență</a:t>
            </a:r>
            <a:endParaRPr lang="en-US" sz="1100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FC7EE47C-270E-0B02-52C3-3E6E37C2E755}"/>
              </a:ext>
            </a:extLst>
          </p:cNvPr>
          <p:cNvSpPr/>
          <p:nvPr/>
        </p:nvSpPr>
        <p:spPr>
          <a:xfrm>
            <a:off x="32004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14E673C-DD18-6506-67E9-25FB0B7B1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09" y="915185"/>
            <a:ext cx="4389120" cy="375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7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B1763C59-FF95-1CA8-70AB-C6F08F0FDA9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ABD1E66D-F693-3CFD-436B-4ED0EFA0C1F3}"/>
              </a:ext>
            </a:extLst>
          </p:cNvPr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SPECTRALA — Benzile de Frecventa EEG</a:t>
            </a:r>
            <a:endParaRPr lang="en-US" sz="24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B566CD1-3238-72F9-5F2F-3CC9D062E1B0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C166FD0-3A70-F072-D703-E8F349F2FC6E}"/>
              </a:ext>
            </a:extLst>
          </p:cNvPr>
          <p:cNvSpPr/>
          <p:nvPr/>
        </p:nvSpPr>
        <p:spPr>
          <a:xfrm>
            <a:off x="365760" y="804672"/>
            <a:ext cx="15544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650E7A4-ED20-3A23-83F4-01C2464DB238}"/>
              </a:ext>
            </a:extLst>
          </p:cNvPr>
          <p:cNvSpPr/>
          <p:nvPr/>
        </p:nvSpPr>
        <p:spPr>
          <a:xfrm>
            <a:off x="36576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DELTA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Hz</a:t>
            </a:r>
            <a:endParaRPr lang="en-US" sz="10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73173D01-3A3B-E1BA-B64A-E4C9002F0275}"/>
              </a:ext>
            </a:extLst>
          </p:cNvPr>
          <p:cNvSpPr/>
          <p:nvPr/>
        </p:nvSpPr>
        <p:spPr>
          <a:xfrm>
            <a:off x="2057400" y="804672"/>
            <a:ext cx="155448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C7528FC-B54E-52D3-759C-A8A308385170}"/>
              </a:ext>
            </a:extLst>
          </p:cNvPr>
          <p:cNvSpPr/>
          <p:nvPr/>
        </p:nvSpPr>
        <p:spPr>
          <a:xfrm>
            <a:off x="205740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THETA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Hz</a:t>
            </a:r>
            <a:endParaRPr lang="en-US" sz="10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201CC11F-5C15-6531-C22C-0C8C8A4828AC}"/>
              </a:ext>
            </a:extLst>
          </p:cNvPr>
          <p:cNvSpPr/>
          <p:nvPr/>
        </p:nvSpPr>
        <p:spPr>
          <a:xfrm>
            <a:off x="3749040" y="804672"/>
            <a:ext cx="15544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A060FAE-17E6-7BBF-BA33-381B7F6F3D1D}"/>
              </a:ext>
            </a:extLst>
          </p:cNvPr>
          <p:cNvSpPr/>
          <p:nvPr/>
        </p:nvSpPr>
        <p:spPr>
          <a:xfrm>
            <a:off x="374904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ALPHA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8–13 Hz</a:t>
            </a:r>
            <a:endParaRPr lang="en-US" sz="10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469534AF-7F34-BC77-30C1-6EFD20E586E5}"/>
              </a:ext>
            </a:extLst>
          </p:cNvPr>
          <p:cNvSpPr/>
          <p:nvPr/>
        </p:nvSpPr>
        <p:spPr>
          <a:xfrm>
            <a:off x="5440680" y="804672"/>
            <a:ext cx="155448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6B15EAB5-DFA2-E900-428E-8241A95E6A0E}"/>
              </a:ext>
            </a:extLst>
          </p:cNvPr>
          <p:cNvSpPr/>
          <p:nvPr/>
        </p:nvSpPr>
        <p:spPr>
          <a:xfrm>
            <a:off x="544068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BETA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13–30 Hz</a:t>
            </a:r>
            <a:endParaRPr lang="en-US" sz="10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D92314E4-01BE-8D78-2804-A5F17CA3C263}"/>
              </a:ext>
            </a:extLst>
          </p:cNvPr>
          <p:cNvSpPr/>
          <p:nvPr/>
        </p:nvSpPr>
        <p:spPr>
          <a:xfrm>
            <a:off x="7132320" y="804672"/>
            <a:ext cx="155448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DB34420-9F5C-A5D9-9788-DA89C999FAD6}"/>
              </a:ext>
            </a:extLst>
          </p:cNvPr>
          <p:cNvSpPr/>
          <p:nvPr/>
        </p:nvSpPr>
        <p:spPr>
          <a:xfrm>
            <a:off x="7132320" y="804672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GAMMA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Hz</a:t>
            </a:r>
            <a:endParaRPr lang="en-US" sz="10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8CAA0EA0-2D1F-67DC-4562-ED94659C4D06}"/>
              </a:ext>
            </a:extLst>
          </p:cNvPr>
          <p:cNvSpPr/>
          <p:nvPr/>
        </p:nvSpPr>
        <p:spPr>
          <a:xfrm>
            <a:off x="365760" y="1298448"/>
            <a:ext cx="4206240" cy="17190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6F685F11-3685-D738-25A8-8FADA2A51A6A}"/>
              </a:ext>
            </a:extLst>
          </p:cNvPr>
          <p:cNvSpPr/>
          <p:nvPr/>
        </p:nvSpPr>
        <p:spPr>
          <a:xfrm>
            <a:off x="365760" y="1298448"/>
            <a:ext cx="4206240" cy="3017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7367AA8D-6860-F52A-B7EF-49265922BB5B}"/>
              </a:ext>
            </a:extLst>
          </p:cNvPr>
          <p:cNvSpPr/>
          <p:nvPr/>
        </p:nvSpPr>
        <p:spPr>
          <a:xfrm>
            <a:off x="365760" y="12984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DELTA (1–4 Hz)</a:t>
            </a:r>
            <a:endParaRPr lang="en-US" sz="950" dirty="0"/>
          </a:p>
        </p:txBody>
      </p:sp>
      <p:pic>
        <p:nvPicPr>
          <p:cNvPr id="36" name="Image 0">
            <a:extLst>
              <a:ext uri="{FF2B5EF4-FFF2-40B4-BE49-F238E27FC236}">
                <a16:creationId xmlns:a16="http://schemas.microsoft.com/office/drawing/2014/main" id="{B57C87A8-D14B-F023-E880-B9512B91D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1645920"/>
            <a:ext cx="4114800" cy="1170432"/>
          </a:xfrm>
          <a:prstGeom prst="rect">
            <a:avLst/>
          </a:prstGeom>
        </p:spPr>
      </p:pic>
      <p:sp>
        <p:nvSpPr>
          <p:cNvPr id="37" name="Text 17">
            <a:extLst>
              <a:ext uri="{FF2B5EF4-FFF2-40B4-BE49-F238E27FC236}">
                <a16:creationId xmlns:a16="http://schemas.microsoft.com/office/drawing/2014/main" id="{B953756E-81C8-FAF5-F4E5-68C3D4B60C2D}"/>
              </a:ext>
            </a:extLst>
          </p:cNvPr>
          <p:cNvSpPr/>
          <p:nvPr/>
        </p:nvSpPr>
        <p:spPr>
          <a:xfrm>
            <a:off x="365760" y="2798064"/>
            <a:ext cx="42062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Unde largi, ample — filtrul taie strict la 4Hz</a:t>
            </a:r>
            <a:endParaRPr lang="en-US" sz="85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86679986-0E45-20AA-4A2C-B13F6DBE3ECF}"/>
              </a:ext>
            </a:extLst>
          </p:cNvPr>
          <p:cNvSpPr/>
          <p:nvPr/>
        </p:nvSpPr>
        <p:spPr>
          <a:xfrm>
            <a:off x="4754880" y="1298448"/>
            <a:ext cx="4206240" cy="17190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C195C2BB-D1D9-C403-3525-9AC7409CD59A}"/>
              </a:ext>
            </a:extLst>
          </p:cNvPr>
          <p:cNvSpPr/>
          <p:nvPr/>
        </p:nvSpPr>
        <p:spPr>
          <a:xfrm>
            <a:off x="4754880" y="1298448"/>
            <a:ext cx="4206240" cy="3017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0AC9B968-42FC-94A7-BD1A-0968853E3CF8}"/>
              </a:ext>
            </a:extLst>
          </p:cNvPr>
          <p:cNvSpPr/>
          <p:nvPr/>
        </p:nvSpPr>
        <p:spPr>
          <a:xfrm>
            <a:off x="4754880" y="12984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Banda THETA (4–7 Hz)</a:t>
            </a:r>
            <a:endParaRPr lang="en-US" sz="950" dirty="0"/>
          </a:p>
        </p:txBody>
      </p:sp>
      <p:pic>
        <p:nvPicPr>
          <p:cNvPr id="41" name="Image 1">
            <a:extLst>
              <a:ext uri="{FF2B5EF4-FFF2-40B4-BE49-F238E27FC236}">
                <a16:creationId xmlns:a16="http://schemas.microsoft.com/office/drawing/2014/main" id="{E2EF5F7E-B9B2-DB29-1CB2-81B861565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1618488"/>
            <a:ext cx="4114800" cy="1170432"/>
          </a:xfrm>
          <a:prstGeom prst="rect">
            <a:avLst/>
          </a:prstGeom>
        </p:spPr>
      </p:pic>
      <p:sp>
        <p:nvSpPr>
          <p:cNvPr id="42" name="Text 21">
            <a:extLst>
              <a:ext uri="{FF2B5EF4-FFF2-40B4-BE49-F238E27FC236}">
                <a16:creationId xmlns:a16="http://schemas.microsoft.com/office/drawing/2014/main" id="{1D1DC9A5-4EF6-406B-3FF3-3384FD290C76}"/>
              </a:ext>
            </a:extLst>
          </p:cNvPr>
          <p:cNvSpPr/>
          <p:nvPr/>
        </p:nvSpPr>
        <p:spPr>
          <a:xfrm>
            <a:off x="4754880" y="2798064"/>
            <a:ext cx="42062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Spectrul FFT delimitat clar intre 4-7Hz</a:t>
            </a:r>
            <a:endParaRPr lang="en-US" sz="850" dirty="0"/>
          </a:p>
        </p:txBody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0B3B95C9-E676-254A-DE0F-EBC804800514}"/>
              </a:ext>
            </a:extLst>
          </p:cNvPr>
          <p:cNvSpPr/>
          <p:nvPr/>
        </p:nvSpPr>
        <p:spPr>
          <a:xfrm>
            <a:off x="365760" y="3127248"/>
            <a:ext cx="4206240" cy="17190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1106833B-22AF-1FB3-A159-37AAC01C4451}"/>
              </a:ext>
            </a:extLst>
          </p:cNvPr>
          <p:cNvSpPr/>
          <p:nvPr/>
        </p:nvSpPr>
        <p:spPr>
          <a:xfrm>
            <a:off x="365760" y="3127248"/>
            <a:ext cx="4206240" cy="3017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6F4E4493-0BAD-245E-267A-82848A313D0B}"/>
              </a:ext>
            </a:extLst>
          </p:cNvPr>
          <p:cNvSpPr/>
          <p:nvPr/>
        </p:nvSpPr>
        <p:spPr>
          <a:xfrm>
            <a:off x="505460" y="31272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Banda ALPHA (8–12 Hz)</a:t>
            </a:r>
            <a:endParaRPr lang="en-US" sz="950" dirty="0"/>
          </a:p>
        </p:txBody>
      </p:sp>
      <p:pic>
        <p:nvPicPr>
          <p:cNvPr id="46" name="Image 2">
            <a:extLst>
              <a:ext uri="{FF2B5EF4-FFF2-40B4-BE49-F238E27FC236}">
                <a16:creationId xmlns:a16="http://schemas.microsoft.com/office/drawing/2014/main" id="{1F409158-A666-E450-7F8B-62F84CFA34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3447288"/>
            <a:ext cx="4114800" cy="1170432"/>
          </a:xfrm>
          <a:prstGeom prst="rect">
            <a:avLst/>
          </a:prstGeom>
        </p:spPr>
      </p:pic>
      <p:sp>
        <p:nvSpPr>
          <p:cNvPr id="47" name="Text 25">
            <a:extLst>
              <a:ext uri="{FF2B5EF4-FFF2-40B4-BE49-F238E27FC236}">
                <a16:creationId xmlns:a16="http://schemas.microsoft.com/office/drawing/2014/main" id="{4A40A8B4-7F79-4A34-110E-349C5E7257F3}"/>
              </a:ext>
            </a:extLst>
          </p:cNvPr>
          <p:cNvSpPr/>
          <p:nvPr/>
        </p:nvSpPr>
        <p:spPr>
          <a:xfrm>
            <a:off x="365760" y="4626864"/>
            <a:ext cx="42062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Varf caracteristic la ~8.5 Hz confirmat</a:t>
            </a:r>
            <a:endParaRPr lang="en-US" sz="850" dirty="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9A23F171-8C11-AE83-4590-C8C40244BF0C}"/>
              </a:ext>
            </a:extLst>
          </p:cNvPr>
          <p:cNvSpPr/>
          <p:nvPr/>
        </p:nvSpPr>
        <p:spPr>
          <a:xfrm>
            <a:off x="4754880" y="3127248"/>
            <a:ext cx="4206240" cy="1719072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74B6C74E-4ED0-3522-51E0-DFDD44DC64A8}"/>
              </a:ext>
            </a:extLst>
          </p:cNvPr>
          <p:cNvSpPr/>
          <p:nvPr/>
        </p:nvSpPr>
        <p:spPr>
          <a:xfrm>
            <a:off x="4754880" y="3127248"/>
            <a:ext cx="4206240" cy="3017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E1A8FCA4-0603-3AB2-EDB1-67417790E6A1}"/>
              </a:ext>
            </a:extLst>
          </p:cNvPr>
          <p:cNvSpPr/>
          <p:nvPr/>
        </p:nvSpPr>
        <p:spPr>
          <a:xfrm>
            <a:off x="4754880" y="31272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13 — Banda BETA (12–30 Hz)</a:t>
            </a:r>
            <a:endParaRPr lang="en-US" sz="950" dirty="0"/>
          </a:p>
        </p:txBody>
      </p:sp>
      <p:pic>
        <p:nvPicPr>
          <p:cNvPr id="51" name="Image 3">
            <a:extLst>
              <a:ext uri="{FF2B5EF4-FFF2-40B4-BE49-F238E27FC236}">
                <a16:creationId xmlns:a16="http://schemas.microsoft.com/office/drawing/2014/main" id="{6B052085-6830-BDC0-8BFB-67D9455ABD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00600" y="3447288"/>
            <a:ext cx="4114800" cy="1170432"/>
          </a:xfrm>
          <a:prstGeom prst="rect">
            <a:avLst/>
          </a:prstGeom>
        </p:spPr>
      </p:pic>
      <p:sp>
        <p:nvSpPr>
          <p:cNvPr id="52" name="Text 29">
            <a:extLst>
              <a:ext uri="{FF2B5EF4-FFF2-40B4-BE49-F238E27FC236}">
                <a16:creationId xmlns:a16="http://schemas.microsoft.com/office/drawing/2014/main" id="{7CAA35A7-C43B-E2CF-4CD5-631028BF3EDD}"/>
              </a:ext>
            </a:extLst>
          </p:cNvPr>
          <p:cNvSpPr/>
          <p:nvPr/>
        </p:nvSpPr>
        <p:spPr>
          <a:xfrm>
            <a:off x="4754880" y="4626864"/>
            <a:ext cx="42062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Oscilatii rapide de alerta/stres; energie concentrata 12-30Hz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56939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Entropy — Complexitatea Nelineară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69080" cy="3931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Ce este Sample Entropy?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Măsoară impredictibilitatea unui semnal EEG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MARI → activitate cerebrală complexă (vigilență, stres)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MICI → activitate regulată, sincronizată (relaxare sau rigiditate patologică)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88950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41985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3886200" cy="640080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SampEn = −ln( A / B 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48577" y="737194"/>
            <a:ext cx="41148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7180" y="2843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Parametri utilizați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64586"/>
            <a:ext cx="1104900" cy="282702"/>
          </a:xfrm>
          <a:prstGeom prst="rect">
            <a:avLst/>
          </a:prstGeom>
          <a:solidFill>
            <a:srgbClr val="F0F7FF"/>
          </a:solidFill>
          <a:ln w="12700">
            <a:solidFill>
              <a:srgbClr val="C5D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1188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1399032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548824"/>
            <a:ext cx="1136135" cy="244983"/>
          </a:xfrm>
          <a:prstGeom prst="rect">
            <a:avLst/>
          </a:prstGeom>
          <a:solidFill>
            <a:srgbClr val="F0F7FF"/>
          </a:solidFill>
          <a:ln w="12700">
            <a:solidFill>
              <a:srgbClr val="C5D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50520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21488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0750" y="3136392"/>
            <a:ext cx="1062990" cy="274320"/>
          </a:xfrm>
          <a:prstGeom prst="rect">
            <a:avLst/>
          </a:prstGeom>
          <a:solidFill>
            <a:srgbClr val="F0F7FF"/>
          </a:solidFill>
          <a:ln w="12700">
            <a:solidFill>
              <a:srgbClr val="C5DB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93997" y="2971800"/>
            <a:ext cx="1188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0.2×SD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89864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15871" y="3352800"/>
            <a:ext cx="1188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0760" y="364845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D5EECCD-066F-E3F1-F79F-60020DCE1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90" y="1290828"/>
            <a:ext cx="3963910" cy="20010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1">
            <a:extLst>
              <a:ext uri="{FF2B5EF4-FFF2-40B4-BE49-F238E27FC236}">
                <a16:creationId xmlns:a16="http://schemas.microsoft.com/office/drawing/2014/main" id="{314D3238-9B0F-CE77-4C05-1EFC76C255A9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 Nesupervizată K-Means</a:t>
            </a:r>
            <a:endParaRPr lang="en-US" sz="240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1EB9E50F-25A3-F678-284B-A11470845631}"/>
              </a:ext>
            </a:extLst>
          </p:cNvPr>
          <p:cNvSpPr/>
          <p:nvPr/>
        </p:nvSpPr>
        <p:spPr>
          <a:xfrm>
            <a:off x="320040" y="777240"/>
            <a:ext cx="1920240" cy="1371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1A7045E8-A2DF-72F6-47C6-38EEF491A66E}"/>
              </a:ext>
            </a:extLst>
          </p:cNvPr>
          <p:cNvSpPr/>
          <p:nvPr/>
        </p:nvSpPr>
        <p:spPr>
          <a:xfrm>
            <a:off x="1005840" y="8229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03E21B95-8DFD-F8BE-BABB-633937A324FD}"/>
              </a:ext>
            </a:extLst>
          </p:cNvPr>
          <p:cNvSpPr/>
          <p:nvPr/>
        </p:nvSpPr>
        <p:spPr>
          <a:xfrm>
            <a:off x="100584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FCB309EF-686C-000B-248E-7D525C38C898}"/>
              </a:ext>
            </a:extLst>
          </p:cNvPr>
          <p:cNvSpPr/>
          <p:nvPr/>
        </p:nvSpPr>
        <p:spPr>
          <a:xfrm>
            <a:off x="36576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Inițializare</a:t>
            </a:r>
            <a:endParaRPr lang="en-US" sz="12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4D4EAA1F-F104-2ED2-7E03-91107E68CDF7}"/>
              </a:ext>
            </a:extLst>
          </p:cNvPr>
          <p:cNvSpPr/>
          <p:nvPr/>
        </p:nvSpPr>
        <p:spPr>
          <a:xfrm>
            <a:off x="41148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centroizi aleatori</a:t>
            </a:r>
            <a:endParaRPr lang="en-US" sz="1050" dirty="0"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2F3FAFD4-C51D-5B38-2A1C-895F63DDD8A3}"/>
              </a:ext>
            </a:extLst>
          </p:cNvPr>
          <p:cNvSpPr/>
          <p:nvPr/>
        </p:nvSpPr>
        <p:spPr>
          <a:xfrm>
            <a:off x="2258568" y="1325880"/>
            <a:ext cx="20116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ED962522-2CF0-89D0-3B7F-668D9669AD8C}"/>
              </a:ext>
            </a:extLst>
          </p:cNvPr>
          <p:cNvSpPr/>
          <p:nvPr/>
        </p:nvSpPr>
        <p:spPr>
          <a:xfrm>
            <a:off x="2468880" y="777240"/>
            <a:ext cx="1920240" cy="1371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B330693B-12A9-E7D9-7EAD-06647115A165}"/>
              </a:ext>
            </a:extLst>
          </p:cNvPr>
          <p:cNvSpPr/>
          <p:nvPr/>
        </p:nvSpPr>
        <p:spPr>
          <a:xfrm>
            <a:off x="3154680" y="8229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A5707A00-DFDC-FD3C-286C-56E5BB200C4A}"/>
              </a:ext>
            </a:extLst>
          </p:cNvPr>
          <p:cNvSpPr/>
          <p:nvPr/>
        </p:nvSpPr>
        <p:spPr>
          <a:xfrm>
            <a:off x="315468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A72241E-8CE6-7184-364C-CC7FB61466D4}"/>
              </a:ext>
            </a:extLst>
          </p:cNvPr>
          <p:cNvSpPr/>
          <p:nvPr/>
        </p:nvSpPr>
        <p:spPr>
          <a:xfrm>
            <a:off x="251460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Atribuire</a:t>
            </a:r>
            <a:endParaRPr lang="en-US" sz="120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AFCCED05-E9A8-FDAC-D614-D4F1CA4E6906}"/>
              </a:ext>
            </a:extLst>
          </p:cNvPr>
          <p:cNvSpPr/>
          <p:nvPr/>
        </p:nvSpPr>
        <p:spPr>
          <a:xfrm>
            <a:off x="256032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Distanță Euclidiană minimă</a:t>
            </a:r>
            <a:endParaRPr lang="en-US" sz="1050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EA1C7B8A-E24C-F4CD-5CA1-9BB4E86FC0AE}"/>
              </a:ext>
            </a:extLst>
          </p:cNvPr>
          <p:cNvSpPr/>
          <p:nvPr/>
        </p:nvSpPr>
        <p:spPr>
          <a:xfrm>
            <a:off x="4407408" y="1325880"/>
            <a:ext cx="20116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ECA5CAF1-5897-A500-7A6B-B2E254B762BA}"/>
              </a:ext>
            </a:extLst>
          </p:cNvPr>
          <p:cNvSpPr/>
          <p:nvPr/>
        </p:nvSpPr>
        <p:spPr>
          <a:xfrm>
            <a:off x="4617720" y="777240"/>
            <a:ext cx="1920240" cy="1371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C23BEFB4-8B5D-76D4-62F5-7F8341256F8A}"/>
              </a:ext>
            </a:extLst>
          </p:cNvPr>
          <p:cNvSpPr/>
          <p:nvPr/>
        </p:nvSpPr>
        <p:spPr>
          <a:xfrm>
            <a:off x="5303520" y="8229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1188FFEB-38AA-7FB5-5251-F577E55BFBFC}"/>
              </a:ext>
            </a:extLst>
          </p:cNvPr>
          <p:cNvSpPr/>
          <p:nvPr/>
        </p:nvSpPr>
        <p:spPr>
          <a:xfrm>
            <a:off x="530352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B508A5B5-1080-3CA9-D6F8-A395059470B9}"/>
              </a:ext>
            </a:extLst>
          </p:cNvPr>
          <p:cNvSpPr/>
          <p:nvPr/>
        </p:nvSpPr>
        <p:spPr>
          <a:xfrm>
            <a:off x="466344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Actualizare</a:t>
            </a:r>
            <a:endParaRPr lang="en-US" sz="12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AE008D8E-8631-B3A7-3DC9-E3F272981D3F}"/>
              </a:ext>
            </a:extLst>
          </p:cNvPr>
          <p:cNvSpPr/>
          <p:nvPr/>
        </p:nvSpPr>
        <p:spPr>
          <a:xfrm>
            <a:off x="470916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B52FE937-3BF8-F6CF-32A2-AB613A36843C}"/>
              </a:ext>
            </a:extLst>
          </p:cNvPr>
          <p:cNvSpPr/>
          <p:nvPr/>
        </p:nvSpPr>
        <p:spPr>
          <a:xfrm>
            <a:off x="6556248" y="1325880"/>
            <a:ext cx="201168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EBB06F7D-6D1F-C3C1-5C04-76A6BBED1CEF}"/>
              </a:ext>
            </a:extLst>
          </p:cNvPr>
          <p:cNvSpPr/>
          <p:nvPr/>
        </p:nvSpPr>
        <p:spPr>
          <a:xfrm>
            <a:off x="6766560" y="777240"/>
            <a:ext cx="1920240" cy="1371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14CF0690-74E2-375C-EE9A-93FE63419B6A}"/>
              </a:ext>
            </a:extLst>
          </p:cNvPr>
          <p:cNvSpPr/>
          <p:nvPr/>
        </p:nvSpPr>
        <p:spPr>
          <a:xfrm>
            <a:off x="7452360" y="8229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D4375015-71AF-642F-080C-D7F8C7660779}"/>
              </a:ext>
            </a:extLst>
          </p:cNvPr>
          <p:cNvSpPr/>
          <p:nvPr/>
        </p:nvSpPr>
        <p:spPr>
          <a:xfrm>
            <a:off x="745236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4869E4D0-51C4-3AC4-156A-9A5B2482D919}"/>
              </a:ext>
            </a:extLst>
          </p:cNvPr>
          <p:cNvSpPr/>
          <p:nvPr/>
        </p:nvSpPr>
        <p:spPr>
          <a:xfrm>
            <a:off x="6812280" y="1444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Convergență</a:t>
            </a:r>
            <a:endParaRPr lang="en-US" sz="12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BCEADDDE-4542-5834-F99E-C936F2C97E35}"/>
              </a:ext>
            </a:extLst>
          </p:cNvPr>
          <p:cNvSpPr/>
          <p:nvPr/>
        </p:nvSpPr>
        <p:spPr>
          <a:xfrm>
            <a:off x="68580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Repetare până la stabilizare</a:t>
            </a:r>
            <a:endParaRPr lang="en-US" sz="105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90B777FE-D2F0-DC96-0C02-4449730938A9}"/>
              </a:ext>
            </a:extLst>
          </p:cNvPr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de </a:t>
            </a:r>
            <a:r>
              <a:rPr lang="en-US" sz="15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</a:t>
            </a: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F46DB6CE-01E8-03D4-9C02-9AE08751775C}"/>
              </a:ext>
            </a:extLst>
          </p:cNvPr>
          <p:cNvSpPr/>
          <p:nvPr/>
        </p:nvSpPr>
        <p:spPr>
          <a:xfrm>
            <a:off x="320040" y="2834640"/>
            <a:ext cx="4023360" cy="192024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58915D2F-B6F6-B5A9-07F3-F1BEC5DB50D3}"/>
              </a:ext>
            </a:extLst>
          </p:cNvPr>
          <p:cNvSpPr/>
          <p:nvPr/>
        </p:nvSpPr>
        <p:spPr>
          <a:xfrm>
            <a:off x="457200" y="29077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📈  Metoda Elbow</a:t>
            </a:r>
            <a:endParaRPr lang="en-US" sz="13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DE7FFB54-48D4-DD5F-E01C-0C017E55534A}"/>
              </a:ext>
            </a:extLst>
          </p:cNvPr>
          <p:cNvSpPr/>
          <p:nvPr/>
        </p:nvSpPr>
        <p:spPr>
          <a:xfrm>
            <a:off x="457200" y="333756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Analizează evoluția WSS (Within-Cluster Sum of Squares)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Punct de inflexiune la k=2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Confirmat pe AMBELE seturi de date</a:t>
            </a:r>
            <a:endParaRPr lang="en-US" sz="1100" dirty="0"/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3A368274-5E32-8D0F-CB83-28B5559EF214}"/>
              </a:ext>
            </a:extLst>
          </p:cNvPr>
          <p:cNvSpPr/>
          <p:nvPr/>
        </p:nvSpPr>
        <p:spPr>
          <a:xfrm>
            <a:off x="4754880" y="2834640"/>
            <a:ext cx="4023360" cy="192024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6A54B749-6840-F0CD-F723-F224C5DA02D6}"/>
              </a:ext>
            </a:extLst>
          </p:cNvPr>
          <p:cNvSpPr/>
          <p:nvPr/>
        </p:nvSpPr>
        <p:spPr>
          <a:xfrm>
            <a:off x="4892040" y="29077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📊  Silhouette Score</a:t>
            </a:r>
            <a:endParaRPr lang="en-US" sz="130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D99E09A9-A680-7B60-BD05-4EF09A2A5103}"/>
              </a:ext>
            </a:extLst>
          </p:cNvPr>
          <p:cNvSpPr/>
          <p:nvPr/>
        </p:nvSpPr>
        <p:spPr>
          <a:xfrm>
            <a:off x="4892040" y="333756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Evaluează calitatea separării clusterelor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Stres Termic: 0.755 (EXCELENT)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Stimul Mecanic: 0.510 (BUN)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1E3A4-75E5-E9E6-04CB-9BB8DAEB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EDFA06D4-97CD-1F10-1DB7-87202E387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93" y="369184"/>
            <a:ext cx="4070073" cy="192310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AFBABEA-EB2D-44B9-C4C3-BE827CBF5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812240"/>
            <a:ext cx="4070073" cy="1892583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7710" y="0"/>
            <a:ext cx="68580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37460"/>
            <a:ext cx="4594860" cy="685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A06B3B3-4C28-B7FF-F18F-1EA77FCDF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025" y="594411"/>
            <a:ext cx="4070073" cy="384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97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— Stres Termic (Cold Pressor Test)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65662" y="641865"/>
            <a:ext cx="3482404" cy="1949015"/>
          </a:xfrm>
          <a:prstGeom prst="rect">
            <a:avLst/>
          </a:prstGeom>
          <a:solidFill>
            <a:srgbClr val="E8F4FD"/>
          </a:solidFill>
          <a:ln w="254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9942" y="641865"/>
            <a:ext cx="3522432" cy="282905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7102" y="641865"/>
            <a:ext cx="3282266" cy="28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Grupul 1 — Tipic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0025" y="971701"/>
            <a:ext cx="3282266" cy="22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din 41 de persoane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4525" y="1363194"/>
            <a:ext cx="3282266" cy="181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SampEn mediu: 0.5 – 0.7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942" y="1726803"/>
            <a:ext cx="3282266" cy="28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 adaptativ STANDARD la stresul termic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9942" y="2025025"/>
            <a:ext cx="3282266" cy="28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Sincronizare neuronală controlată și predictibilă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9942" y="1870745"/>
            <a:ext cx="3282266" cy="28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9942" y="2223049"/>
            <a:ext cx="3282266" cy="28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249" y="2734657"/>
            <a:ext cx="3528124" cy="2162861"/>
          </a:xfrm>
          <a:prstGeom prst="rect">
            <a:avLst/>
          </a:prstGeom>
          <a:solidFill>
            <a:srgbClr val="FFF0F3"/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9942" y="2734657"/>
            <a:ext cx="3528124" cy="30462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7102" y="2734657"/>
            <a:ext cx="3287571" cy="304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Grupul 2 — Atipic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797" y="3115725"/>
            <a:ext cx="3287571" cy="243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din 41 de persoane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0025" y="3496173"/>
            <a:ext cx="3287571" cy="194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SampEn mediu: &gt; 0.8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4525" y="4117862"/>
            <a:ext cx="3287571" cy="304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Rigidizare nelineară pronunțată a semnalului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9948" y="4155232"/>
            <a:ext cx="3287571" cy="304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4526" y="4471748"/>
            <a:ext cx="3287571" cy="304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Creierul NU se poate adapta la disconfortul termic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102" y="5523577"/>
            <a:ext cx="3287571" cy="304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3 cazuri = artefacte hardware (outliers!)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59603" y="2025025"/>
            <a:ext cx="1188720" cy="11887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34732" y="1977389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3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31FDD9C-4F33-6142-1A36-5F8DC7F0F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247" y="1107941"/>
            <a:ext cx="3226428" cy="29276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4FAA734B-B845-6B0D-15FF-C402CDE7C6E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59426E5-44A7-FB26-A7D7-AFA6D43DBDCF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Rezultate — </a:t>
            </a:r>
            <a:r>
              <a:rPr lang="en-US" sz="2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Stimul</a:t>
            </a: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Ascutit</a:t>
            </a:r>
            <a:endParaRPr lang="en-US" sz="22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AA8405A9-6FFB-4537-3DA7-106EC8D568FE}"/>
              </a:ext>
            </a:extLst>
          </p:cNvPr>
          <p:cNvSpPr/>
          <p:nvPr/>
        </p:nvSpPr>
        <p:spPr>
          <a:xfrm>
            <a:off x="45241" y="731562"/>
            <a:ext cx="3589419" cy="2014272"/>
          </a:xfrm>
          <a:prstGeom prst="rect">
            <a:avLst/>
          </a:prstGeom>
          <a:solidFill>
            <a:srgbClr val="1B2A4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697CE555-5704-AC98-B2FD-4EE9B76C9C74}"/>
              </a:ext>
            </a:extLst>
          </p:cNvPr>
          <p:cNvSpPr/>
          <p:nvPr/>
        </p:nvSpPr>
        <p:spPr>
          <a:xfrm>
            <a:off x="36352" y="605442"/>
            <a:ext cx="3589419" cy="32267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9F91CC35-5A8C-1B2E-78AA-05F812F8870E}"/>
              </a:ext>
            </a:extLst>
          </p:cNvPr>
          <p:cNvSpPr/>
          <p:nvPr/>
        </p:nvSpPr>
        <p:spPr>
          <a:xfrm>
            <a:off x="160900" y="640080"/>
            <a:ext cx="3404301" cy="322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Grupul 1 —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Tipic</a:t>
            </a:r>
            <a:endParaRPr lang="en-US" sz="13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066C8E1-2BAC-4FE8-76FC-A48CA423F5BD}"/>
              </a:ext>
            </a:extLst>
          </p:cNvPr>
          <p:cNvSpPr/>
          <p:nvPr/>
        </p:nvSpPr>
        <p:spPr>
          <a:xfrm>
            <a:off x="94501" y="1007072"/>
            <a:ext cx="3404301" cy="258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din 36 de persoane</a:t>
            </a:r>
            <a:endParaRPr lang="en-US" sz="2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4DD2AEA-9E83-43A6-6AC6-BAA8EEC071F5}"/>
              </a:ext>
            </a:extLst>
          </p:cNvPr>
          <p:cNvSpPr/>
          <p:nvPr/>
        </p:nvSpPr>
        <p:spPr>
          <a:xfrm>
            <a:off x="252820" y="1391331"/>
            <a:ext cx="3404301" cy="206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SampEn: 0.6 – 0.8 (stabil)</a:t>
            </a:r>
            <a:endParaRPr lang="en-US" sz="13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7E34D37-DD5D-AEAE-110B-B6ACDA8B1BEC}"/>
              </a:ext>
            </a:extLst>
          </p:cNvPr>
          <p:cNvSpPr/>
          <p:nvPr/>
        </p:nvSpPr>
        <p:spPr>
          <a:xfrm>
            <a:off x="160900" y="1920240"/>
            <a:ext cx="3404301" cy="322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Recuperare rapidă după reflexul de tresărire</a:t>
            </a:r>
            <a:endParaRPr lang="en-US" sz="11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E52CA0E7-BE49-BE6B-3E44-8C06DF9DA088}"/>
              </a:ext>
            </a:extLst>
          </p:cNvPr>
          <p:cNvSpPr/>
          <p:nvPr/>
        </p:nvSpPr>
        <p:spPr>
          <a:xfrm>
            <a:off x="143715" y="2187756"/>
            <a:ext cx="3404301" cy="322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Rețelele neuronale reiau dinamica complexă</a:t>
            </a:r>
            <a:endParaRPr lang="en-US" sz="11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FF9C33B-78AA-3D1E-0634-1DA046D6893A}"/>
              </a:ext>
            </a:extLst>
          </p:cNvPr>
          <p:cNvSpPr/>
          <p:nvPr/>
        </p:nvSpPr>
        <p:spPr>
          <a:xfrm>
            <a:off x="160900" y="2926080"/>
            <a:ext cx="3404301" cy="322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Entropie stabilă → bună adaptabilitate</a:t>
            </a:r>
            <a:endParaRPr lang="en-US" sz="11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796B445F-677F-6647-EB6A-79140FA6D800}"/>
              </a:ext>
            </a:extLst>
          </p:cNvPr>
          <p:cNvSpPr/>
          <p:nvPr/>
        </p:nvSpPr>
        <p:spPr>
          <a:xfrm>
            <a:off x="160900" y="3429000"/>
            <a:ext cx="3404301" cy="322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Flexibilitate corticală ridicată</a:t>
            </a:r>
            <a:endParaRPr lang="en-US" sz="11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92EC06F6-1CB3-B263-BCA0-32423DC04C97}"/>
              </a:ext>
            </a:extLst>
          </p:cNvPr>
          <p:cNvSpPr/>
          <p:nvPr/>
        </p:nvSpPr>
        <p:spPr>
          <a:xfrm>
            <a:off x="45241" y="2851237"/>
            <a:ext cx="3611880" cy="2189993"/>
          </a:xfrm>
          <a:prstGeom prst="rect">
            <a:avLst/>
          </a:prstGeom>
          <a:solidFill>
            <a:srgbClr val="2A1020"/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985462B5-6DA8-9CB3-87C2-0252CF4CC25D}"/>
              </a:ext>
            </a:extLst>
          </p:cNvPr>
          <p:cNvSpPr/>
          <p:nvPr/>
        </p:nvSpPr>
        <p:spPr>
          <a:xfrm>
            <a:off x="45241" y="2851237"/>
            <a:ext cx="3611880" cy="315431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5FC44573-4D39-5299-C56A-72184A6287BD}"/>
              </a:ext>
            </a:extLst>
          </p:cNvPr>
          <p:cNvSpPr/>
          <p:nvPr/>
        </p:nvSpPr>
        <p:spPr>
          <a:xfrm>
            <a:off x="182401" y="2851237"/>
            <a:ext cx="3365615" cy="315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Grupul 2 —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Atipic</a:t>
            </a:r>
            <a:endParaRPr lang="en-US" sz="13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8B15B495-5C2D-28B5-BE05-134DACA7F1CA}"/>
              </a:ext>
            </a:extLst>
          </p:cNvPr>
          <p:cNvSpPr/>
          <p:nvPr/>
        </p:nvSpPr>
        <p:spPr>
          <a:xfrm>
            <a:off x="182401" y="3295846"/>
            <a:ext cx="3365615" cy="252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din 36 de persoane</a:t>
            </a:r>
            <a:endParaRPr lang="en-US" sz="20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DD86C693-DF80-5D76-677D-438D9B5BB4C4}"/>
              </a:ext>
            </a:extLst>
          </p:cNvPr>
          <p:cNvSpPr/>
          <p:nvPr/>
        </p:nvSpPr>
        <p:spPr>
          <a:xfrm>
            <a:off x="291505" y="3605947"/>
            <a:ext cx="3365615" cy="201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SampEn: 0.4 – 0.5 (colaps)</a:t>
            </a:r>
            <a:endParaRPr lang="en-US" sz="13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7461271D-EBA9-8CCB-81D0-986741BAFE8D}"/>
              </a:ext>
            </a:extLst>
          </p:cNvPr>
          <p:cNvSpPr/>
          <p:nvPr/>
        </p:nvSpPr>
        <p:spPr>
          <a:xfrm>
            <a:off x="182401" y="4131397"/>
            <a:ext cx="3365615" cy="315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BLOCAJ neurofiziologic după șocul acut</a:t>
            </a:r>
            <a:endParaRPr lang="en-US" sz="11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D16E73B8-EC47-89EC-43F1-9CDDA3453A5B}"/>
              </a:ext>
            </a:extLst>
          </p:cNvPr>
          <p:cNvSpPr/>
          <p:nvPr/>
        </p:nvSpPr>
        <p:spPr>
          <a:xfrm>
            <a:off x="182401" y="4411938"/>
            <a:ext cx="3365615" cy="315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Rigidizare extremă de apărare corticală</a:t>
            </a:r>
            <a:endParaRPr lang="en-US" sz="110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79D83085-845D-9E0C-916D-D7E0EABF85A5}"/>
              </a:ext>
            </a:extLst>
          </p:cNvPr>
          <p:cNvSpPr/>
          <p:nvPr/>
        </p:nvSpPr>
        <p:spPr>
          <a:xfrm>
            <a:off x="182401" y="5137237"/>
            <a:ext cx="3365615" cy="315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Desincronizare bruscă a ritmurilor de repaus</a:t>
            </a:r>
            <a:endParaRPr lang="en-US" sz="110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BA80F981-E551-F9A5-96C8-E750C30F6261}"/>
              </a:ext>
            </a:extLst>
          </p:cNvPr>
          <p:cNvSpPr/>
          <p:nvPr/>
        </p:nvSpPr>
        <p:spPr>
          <a:xfrm>
            <a:off x="4709160" y="458506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Dificultate majoră de autoreglare rapidă</a:t>
            </a:r>
            <a:endParaRPr lang="en-US" sz="110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0A74CE88-EED4-AD04-E998-DCEBD333EDC7}"/>
              </a:ext>
            </a:extLst>
          </p:cNvPr>
          <p:cNvSpPr/>
          <p:nvPr/>
        </p:nvSpPr>
        <p:spPr>
          <a:xfrm>
            <a:off x="3946816" y="1925523"/>
            <a:ext cx="1188720" cy="11887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A4E7675-BB63-82F7-31BD-F5F82FC113F3}"/>
              </a:ext>
            </a:extLst>
          </p:cNvPr>
          <p:cNvSpPr/>
          <p:nvPr/>
        </p:nvSpPr>
        <p:spPr>
          <a:xfrm>
            <a:off x="3977640" y="1891754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3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1F68371-5BA4-E3F2-2718-280BCBB07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71" y="928116"/>
            <a:ext cx="3102429" cy="299074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6CC40329-9F91-9DC2-E5AE-3DF071F2618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F9D16421-B45C-60A3-A02E-D4E64ED65C0F}"/>
              </a:ext>
            </a:extLst>
          </p:cNvPr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 &amp; Direcții de Dezvoltare</a:t>
            </a:r>
            <a:endParaRPr lang="en-US" sz="24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B1BD9B39-6B90-ECF2-D589-2378F80698E0}"/>
              </a:ext>
            </a:extLst>
          </p:cNvPr>
          <p:cNvSpPr/>
          <p:nvPr/>
        </p:nvSpPr>
        <p:spPr>
          <a:xfrm>
            <a:off x="320040" y="777240"/>
            <a:ext cx="4114800" cy="39319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EEEB0F1-0705-24FC-95CE-25B012DB6D80}"/>
              </a:ext>
            </a:extLst>
          </p:cNvPr>
          <p:cNvSpPr/>
          <p:nvPr/>
        </p:nvSpPr>
        <p:spPr>
          <a:xfrm>
            <a:off x="45720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am realizat</a:t>
            </a:r>
            <a:endParaRPr lang="en-US" sz="13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86E17F1A-A454-C7C8-0537-F7E6FC0CFD6C}"/>
              </a:ext>
            </a:extLst>
          </p:cNvPr>
          <p:cNvSpPr/>
          <p:nvPr/>
        </p:nvSpPr>
        <p:spPr>
          <a:xfrm>
            <a:off x="457200" y="12984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automatizat batch în MATLAB + EEGLAB</a:t>
            </a:r>
            <a:endParaRPr lang="en-US" sz="11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5D7763F-97FF-1F21-7835-5FF468174E67}"/>
              </a:ext>
            </a:extLst>
          </p:cNvPr>
          <p:cNvSpPr/>
          <p:nvPr/>
        </p:nvSpPr>
        <p:spPr>
          <a:xfrm>
            <a:off x="457200" y="18288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Preprocesare completă (FIR, Notch, ASR, ICA)</a:t>
            </a:r>
            <a:endParaRPr lang="en-US" sz="11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22E4BE50-F4FB-0782-65EE-06B56E97D0A0}"/>
              </a:ext>
            </a:extLst>
          </p:cNvPr>
          <p:cNvSpPr/>
          <p:nvPr/>
        </p:nvSpPr>
        <p:spPr>
          <a:xfrm>
            <a:off x="457200" y="23591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spectrală pe 5 benzi de frecvență</a:t>
            </a:r>
            <a:endParaRPr lang="en-US" sz="11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A110A447-056C-B949-E1B9-4034C1229A5D}"/>
              </a:ext>
            </a:extLst>
          </p:cNvPr>
          <p:cNvSpPr/>
          <p:nvPr/>
        </p:nvSpPr>
        <p:spPr>
          <a:xfrm>
            <a:off x="457200" y="28895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Extragere Sample Entropy pentru toți electrozii</a:t>
            </a:r>
            <a:endParaRPr lang="en-US" sz="11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2239BBB-959C-EE5D-6E9C-B45C6C62FD74}"/>
              </a:ext>
            </a:extLst>
          </p:cNvPr>
          <p:cNvSpPr/>
          <p:nvPr/>
        </p:nvSpPr>
        <p:spPr>
          <a:xfrm>
            <a:off x="457200" y="34198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 validare Elbow + Silhouette</a:t>
            </a:r>
            <a:endParaRPr lang="en-US" sz="11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32F2DAA-61BF-5550-65A6-F4DA55F1FC65}"/>
              </a:ext>
            </a:extLst>
          </p:cNvPr>
          <p:cNvSpPr/>
          <p:nvPr/>
        </p:nvSpPr>
        <p:spPr>
          <a:xfrm>
            <a:off x="457200" y="39502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 semnificativă tipic / atipic confirmată</a:t>
            </a:r>
            <a:endParaRPr lang="en-US" sz="11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9D9629F6-465B-6200-09E4-DF5499DB218D}"/>
              </a:ext>
            </a:extLst>
          </p:cNvPr>
          <p:cNvSpPr/>
          <p:nvPr/>
        </p:nvSpPr>
        <p:spPr>
          <a:xfrm>
            <a:off x="4709160" y="777240"/>
            <a:ext cx="4114800" cy="39319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C59BBD0-F3D1-296D-8953-A10811E00CEF}"/>
              </a:ext>
            </a:extLst>
          </p:cNvPr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Direcții Viitoare</a:t>
            </a:r>
            <a:endParaRPr lang="en-US" sz="13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78F73087-6021-5F82-6BAC-F33860BD0F56}"/>
              </a:ext>
            </a:extLst>
          </p:cNvPr>
          <p:cNvSpPr/>
          <p:nvPr/>
        </p:nvSpPr>
        <p:spPr>
          <a:xfrm>
            <a:off x="4846320" y="12984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Integrarea datelor glicemice reale pentru corelare directă</a:t>
            </a:r>
            <a:endParaRPr lang="en-US" sz="11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6A2E5FE6-ECA1-6F4C-A7A0-F0C1212A1499}"/>
              </a:ext>
            </a:extLst>
          </p:cNvPr>
          <p:cNvSpPr/>
          <p:nvPr/>
        </p:nvSpPr>
        <p:spPr>
          <a:xfrm>
            <a:off x="4846320" y="19385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 supervizată: SVM, Rețele Neuronale</a:t>
            </a:r>
            <a:endParaRPr lang="en-US" sz="11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15FC87E4-AC5C-E8DA-D509-FF854F849C76}"/>
              </a:ext>
            </a:extLst>
          </p:cNvPr>
          <p:cNvSpPr/>
          <p:nvPr/>
        </p:nvSpPr>
        <p:spPr>
          <a:xfrm>
            <a:off x="4846320" y="2578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 Sample Entropy (MSE) — analiză multi-scală</a:t>
            </a:r>
            <a:endParaRPr lang="en-US" sz="11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80A2FA1-7804-1837-5BC0-7E491B2C3D64}"/>
              </a:ext>
            </a:extLst>
          </p:cNvPr>
          <p:cNvSpPr/>
          <p:nvPr/>
        </p:nvSpPr>
        <p:spPr>
          <a:xfrm>
            <a:off x="4846320" y="321868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în timp real pe flux de achiziție</a:t>
            </a:r>
            <a:endParaRPr lang="en-US" sz="11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F86108B6-F62C-2558-7FFB-A7D9BE7C6588}"/>
              </a:ext>
            </a:extLst>
          </p:cNvPr>
          <p:cNvSpPr/>
          <p:nvPr/>
        </p:nvSpPr>
        <p:spPr>
          <a:xfrm>
            <a:off x="4846320" y="38587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Extinderea cohortei pentru ML supervizat robust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52C18AD3-A011-6AB5-C8E6-ACC5D01423B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C076C344-A790-5793-370F-804A3C36099C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427E4E2-025C-A636-47DC-F19E91EEC896}"/>
              </a:ext>
            </a:extLst>
          </p:cNvPr>
          <p:cNvSpPr/>
          <p:nvPr/>
        </p:nvSpPr>
        <p:spPr>
          <a:xfrm>
            <a:off x="656984" y="1259586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Vă mulțumesc pentru atenție!</a:t>
            </a:r>
            <a:endParaRPr lang="en-US" sz="36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BD2B15BE-6B38-1744-D4D2-D39681AD5BAF}"/>
              </a:ext>
            </a:extLst>
          </p:cNvPr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Daju Bianca Teodora  •  Grupa 30135  •  UTCN  •  2025–2026</a:t>
            </a:r>
            <a:endParaRPr lang="en-US" sz="1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ACCEE3F-2370-CAB9-2F0D-E845DA232817}"/>
              </a:ext>
            </a:extLst>
          </p:cNvPr>
          <p:cNvSpPr/>
          <p:nvPr/>
        </p:nvSpPr>
        <p:spPr>
          <a:xfrm>
            <a:off x="594360" y="2400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Ingineria Reglării Automate II</a:t>
            </a:r>
            <a:endParaRPr lang="en-US" sz="13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1871E27-0DF8-2242-7AE8-F3377ED36596}"/>
              </a:ext>
            </a:extLst>
          </p:cNvPr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998</Words>
  <Application>Microsoft Office PowerPoint</Application>
  <PresentationFormat>On-screen Show (16:9)</PresentationFormat>
  <Paragraphs>243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EEG pentru Identificarea Diabetului Zaharat</dc:title>
  <dc:subject>PptxGenJS Presentation</dc:subject>
  <dc:creator>PptxGenJS</dc:creator>
  <cp:lastModifiedBy>Bianca Teodora Daju</cp:lastModifiedBy>
  <cp:revision>12</cp:revision>
  <dcterms:created xsi:type="dcterms:W3CDTF">2026-05-26T20:38:41Z</dcterms:created>
  <dcterms:modified xsi:type="dcterms:W3CDTF">2026-05-28T13:08:21Z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2026-05-26T23:47:57Z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c075fcd4-c062-45ef-a475-7d243f65a02f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